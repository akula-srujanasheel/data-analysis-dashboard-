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0" r:id="rId1"/>
  </p:sldMasterIdLst>
  <p:notesMasterIdLst>
    <p:notesMasterId r:id="rId33"/>
  </p:notesMasterIdLst>
  <p:sldIdLst>
    <p:sldId id="4412" r:id="rId2"/>
    <p:sldId id="4413" r:id="rId3"/>
    <p:sldId id="4458" r:id="rId4"/>
    <p:sldId id="4459" r:id="rId5"/>
    <p:sldId id="4460" r:id="rId6"/>
    <p:sldId id="4461" r:id="rId7"/>
    <p:sldId id="4462" r:id="rId8"/>
    <p:sldId id="4466" r:id="rId9"/>
    <p:sldId id="4467" r:id="rId10"/>
    <p:sldId id="4471" r:id="rId11"/>
    <p:sldId id="4472" r:id="rId12"/>
    <p:sldId id="4473" r:id="rId13"/>
    <p:sldId id="4456" r:id="rId14"/>
    <p:sldId id="4457" r:id="rId15"/>
    <p:sldId id="4463" r:id="rId16"/>
    <p:sldId id="4464" r:id="rId17"/>
    <p:sldId id="4465" r:id="rId18"/>
    <p:sldId id="4474" r:id="rId19"/>
    <p:sldId id="4475" r:id="rId20"/>
    <p:sldId id="4476" r:id="rId21"/>
    <p:sldId id="4477" r:id="rId22"/>
    <p:sldId id="4478" r:id="rId23"/>
    <p:sldId id="4479" r:id="rId24"/>
    <p:sldId id="4480" r:id="rId25"/>
    <p:sldId id="4481" r:id="rId26"/>
    <p:sldId id="4482" r:id="rId27"/>
    <p:sldId id="4450" r:id="rId28"/>
    <p:sldId id="4468" r:id="rId29"/>
    <p:sldId id="4452" r:id="rId30"/>
    <p:sldId id="4469" r:id="rId31"/>
    <p:sldId id="4110" r:id="rId32"/>
  </p:sldIdLst>
  <p:sldSz cx="24377650" cy="13716000"/>
  <p:notesSz cx="6858000" cy="9144000"/>
  <p:defaultText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FF1F8"/>
    <a:srgbClr val="375B8A"/>
    <a:srgbClr val="F2F2F2"/>
    <a:srgbClr val="373737"/>
    <a:srgbClr val="445469"/>
    <a:srgbClr val="5A5A66"/>
    <a:srgbClr val="626162"/>
    <a:srgbClr val="C4D4E2"/>
    <a:srgbClr val="CFCFC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890" autoAdjust="0"/>
  </p:normalViewPr>
  <p:slideViewPr>
    <p:cSldViewPr snapToGrid="0" snapToObjects="1">
      <p:cViewPr varScale="1">
        <p:scale>
          <a:sx n="35" d="100"/>
          <a:sy n="35" d="100"/>
        </p:scale>
        <p:origin x="762" y="78"/>
      </p:cViewPr>
      <p:guideLst/>
    </p:cSldViewPr>
  </p:slideViewPr>
  <p:notesTextViewPr>
    <p:cViewPr>
      <p:scale>
        <a:sx n="20" d="100"/>
        <a:sy n="20" d="100"/>
      </p:scale>
      <p:origin x="0" y="0"/>
    </p:cViewPr>
  </p:notesTextViewPr>
  <p:sorterViewPr>
    <p:cViewPr>
      <p:scale>
        <a:sx n="50" d="100"/>
        <a:sy n="50" d="100"/>
      </p:scale>
      <p:origin x="0" y="0"/>
    </p:cViewPr>
  </p:sorterViewPr>
  <p:notesViewPr>
    <p:cSldViewPr snapToGrid="0" snapToObjects="1"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Montserrat Light"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Montserrat Light" charset="0"/>
              </a:defRPr>
            </a:lvl1pPr>
          </a:lstStyle>
          <a:p>
            <a:fld id="{EFC10EE1-B198-C942-8235-326C972CBB30}" type="datetimeFigureOut">
              <a:rPr lang="en-US" smtClean="0"/>
              <a:pPr/>
              <a:t>7/3/2026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Montserrat Light"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Montserrat Light" charset="0"/>
              </a:defRPr>
            </a:lvl1pPr>
          </a:lstStyle>
          <a:p>
            <a:fld id="{006BE02D-20C0-F840-AFAC-BEA99C74FDC2}" type="slidenum">
              <a:rPr lang="en-US" smtClean="0"/>
              <a:pPr/>
              <a:t>‹#›</a:t>
            </a:fld>
            <a:endParaRPr lang="en-US" dirty="0"/>
          </a:p>
        </p:txBody>
      </p:sp>
    </p:spTree>
    <p:extLst>
      <p:ext uri="{BB962C8B-B14F-4D97-AF65-F5344CB8AC3E}">
        <p14:creationId xmlns:p14="http://schemas.microsoft.com/office/powerpoint/2010/main" val="3463289142"/>
      </p:ext>
    </p:extLst>
  </p:cSld>
  <p:clrMap bg1="lt1" tx1="dk1" bg2="lt2" tx2="dk2" accent1="accent1" accent2="accent2" accent3="accent3" accent4="accent4" accent5="accent5" accent6="accent6" hlink="hlink" folHlink="folHlink"/>
  <p:notesStyle>
    <a:lvl1pPr marL="0" algn="l" defTabSz="914217" rtl="0" eaLnBrk="1" latinLnBrk="0" hangingPunct="1">
      <a:defRPr sz="2400" b="0" i="0" kern="1200">
        <a:solidFill>
          <a:schemeClr val="tx1"/>
        </a:solidFill>
        <a:latin typeface="Montserrat Light" charset="0"/>
        <a:ea typeface="+mn-ea"/>
        <a:cs typeface="+mn-cs"/>
      </a:defRPr>
    </a:lvl1pPr>
    <a:lvl2pPr marL="914217" algn="l" defTabSz="914217" rtl="0" eaLnBrk="1" latinLnBrk="0" hangingPunct="1">
      <a:defRPr sz="2400" b="0" i="0" kern="1200">
        <a:solidFill>
          <a:schemeClr val="tx1"/>
        </a:solidFill>
        <a:latin typeface="Montserrat Light" charset="0"/>
        <a:ea typeface="+mn-ea"/>
        <a:cs typeface="+mn-cs"/>
      </a:defRPr>
    </a:lvl2pPr>
    <a:lvl3pPr marL="1828434" algn="l" defTabSz="914217" rtl="0" eaLnBrk="1" latinLnBrk="0" hangingPunct="1">
      <a:defRPr sz="2400" b="0" i="0" kern="1200">
        <a:solidFill>
          <a:schemeClr val="tx1"/>
        </a:solidFill>
        <a:latin typeface="Montserrat Light" charset="0"/>
        <a:ea typeface="+mn-ea"/>
        <a:cs typeface="+mn-cs"/>
      </a:defRPr>
    </a:lvl3pPr>
    <a:lvl4pPr marL="2742651" algn="l" defTabSz="914217" rtl="0" eaLnBrk="1" latinLnBrk="0" hangingPunct="1">
      <a:defRPr sz="2400" b="0" i="0" kern="1200">
        <a:solidFill>
          <a:schemeClr val="tx1"/>
        </a:solidFill>
        <a:latin typeface="Montserrat Light" charset="0"/>
        <a:ea typeface="+mn-ea"/>
        <a:cs typeface="+mn-cs"/>
      </a:defRPr>
    </a:lvl4pPr>
    <a:lvl5pPr marL="3656868" algn="l" defTabSz="914217" rtl="0" eaLnBrk="1" latinLnBrk="0" hangingPunct="1">
      <a:defRPr sz="2400" b="0" i="0" kern="1200">
        <a:solidFill>
          <a:schemeClr val="tx1"/>
        </a:solidFill>
        <a:latin typeface="Montserrat Light" charset="0"/>
        <a:ea typeface="+mn-ea"/>
        <a:cs typeface="+mn-cs"/>
      </a:defRPr>
    </a:lvl5pPr>
    <a:lvl6pPr marL="4571086" algn="l" defTabSz="914217" rtl="0" eaLnBrk="1" latinLnBrk="0" hangingPunct="1">
      <a:defRPr sz="2400" kern="1200">
        <a:solidFill>
          <a:schemeClr val="tx1"/>
        </a:solidFill>
        <a:latin typeface="+mn-lt"/>
        <a:ea typeface="+mn-ea"/>
        <a:cs typeface="+mn-cs"/>
      </a:defRPr>
    </a:lvl6pPr>
    <a:lvl7pPr marL="5485303" algn="l" defTabSz="914217" rtl="0" eaLnBrk="1" latinLnBrk="0" hangingPunct="1">
      <a:defRPr sz="2400" kern="1200">
        <a:solidFill>
          <a:schemeClr val="tx1"/>
        </a:solidFill>
        <a:latin typeface="+mn-lt"/>
        <a:ea typeface="+mn-ea"/>
        <a:cs typeface="+mn-cs"/>
      </a:defRPr>
    </a:lvl7pPr>
    <a:lvl8pPr marL="6399520" algn="l" defTabSz="914217" rtl="0" eaLnBrk="1" latinLnBrk="0" hangingPunct="1">
      <a:defRPr sz="2400" kern="1200">
        <a:solidFill>
          <a:schemeClr val="tx1"/>
        </a:solidFill>
        <a:latin typeface="+mn-lt"/>
        <a:ea typeface="+mn-ea"/>
        <a:cs typeface="+mn-cs"/>
      </a:defRPr>
    </a:lvl8pPr>
    <a:lvl9pPr marL="7313737" algn="l" defTabSz="914217"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61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636CF907-990B-C04D-962C-4E985A02DEED}"/>
              </a:ext>
            </a:extLst>
          </p:cNvPr>
          <p:cNvSpPr>
            <a:spLocks noGrp="1"/>
          </p:cNvSpPr>
          <p:nvPr>
            <p:ph type="pic" sz="quarter" idx="14"/>
          </p:nvPr>
        </p:nvSpPr>
        <p:spPr>
          <a:xfrm>
            <a:off x="-276644" y="-261256"/>
            <a:ext cx="24930938" cy="14238512"/>
          </a:xfrm>
          <a:prstGeom prst="rect">
            <a:avLst/>
          </a:prstGeom>
          <a:solidFill>
            <a:schemeClr val="bg1">
              <a:lumMod val="95000"/>
            </a:schemeClr>
          </a:solidFill>
        </p:spPr>
        <p:txBody>
          <a:bodyPr>
            <a:normAutofit/>
          </a:bodyPr>
          <a:lstStyle>
            <a:lvl1pPr>
              <a:defRPr sz="2101"/>
            </a:lvl1pPr>
          </a:lstStyle>
          <a:p>
            <a:endParaRPr lang="en-US"/>
          </a:p>
        </p:txBody>
      </p:sp>
    </p:spTree>
    <p:extLst>
      <p:ext uri="{BB962C8B-B14F-4D97-AF65-F5344CB8AC3E}">
        <p14:creationId xmlns:p14="http://schemas.microsoft.com/office/powerpoint/2010/main" val="1547527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636CF907-990B-C04D-962C-4E985A02DEED}"/>
              </a:ext>
            </a:extLst>
          </p:cNvPr>
          <p:cNvSpPr>
            <a:spLocks noGrp="1"/>
          </p:cNvSpPr>
          <p:nvPr>
            <p:ph type="pic" sz="quarter" idx="14"/>
          </p:nvPr>
        </p:nvSpPr>
        <p:spPr>
          <a:xfrm>
            <a:off x="8672052" y="4365523"/>
            <a:ext cx="15982242" cy="7299102"/>
          </a:xfrm>
          <a:prstGeom prst="rect">
            <a:avLst/>
          </a:prstGeom>
          <a:solidFill>
            <a:schemeClr val="bg1">
              <a:lumMod val="95000"/>
            </a:schemeClr>
          </a:solidFill>
        </p:spPr>
        <p:txBody>
          <a:bodyPr>
            <a:normAutofit/>
          </a:bodyPr>
          <a:lstStyle>
            <a:lvl1pPr>
              <a:defRPr sz="2101"/>
            </a:lvl1pPr>
          </a:lstStyle>
          <a:p>
            <a:endParaRPr lang="en-US"/>
          </a:p>
        </p:txBody>
      </p:sp>
    </p:spTree>
    <p:extLst>
      <p:ext uri="{BB962C8B-B14F-4D97-AF65-F5344CB8AC3E}">
        <p14:creationId xmlns:p14="http://schemas.microsoft.com/office/powerpoint/2010/main" val="922296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lid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636CF907-990B-C04D-962C-4E985A02DEED}"/>
              </a:ext>
            </a:extLst>
          </p:cNvPr>
          <p:cNvSpPr>
            <a:spLocks noGrp="1"/>
          </p:cNvSpPr>
          <p:nvPr>
            <p:ph type="pic" sz="quarter" idx="14"/>
          </p:nvPr>
        </p:nvSpPr>
        <p:spPr>
          <a:xfrm>
            <a:off x="-359229" y="4255966"/>
            <a:ext cx="25013523" cy="9786605"/>
          </a:xfrm>
          <a:prstGeom prst="rect">
            <a:avLst/>
          </a:prstGeom>
          <a:solidFill>
            <a:schemeClr val="bg1">
              <a:lumMod val="95000"/>
            </a:schemeClr>
          </a:solidFill>
        </p:spPr>
        <p:txBody>
          <a:bodyPr>
            <a:normAutofit/>
          </a:bodyPr>
          <a:lstStyle>
            <a:lvl1pPr>
              <a:defRPr sz="2101"/>
            </a:lvl1pPr>
          </a:lstStyle>
          <a:p>
            <a:endParaRPr lang="en-US"/>
          </a:p>
        </p:txBody>
      </p:sp>
    </p:spTree>
    <p:extLst>
      <p:ext uri="{BB962C8B-B14F-4D97-AF65-F5344CB8AC3E}">
        <p14:creationId xmlns:p14="http://schemas.microsoft.com/office/powerpoint/2010/main" val="315432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lide">
    <p:spTree>
      <p:nvGrpSpPr>
        <p:cNvPr id="1" name=""/>
        <p:cNvGrpSpPr/>
        <p:nvPr/>
      </p:nvGrpSpPr>
      <p:grpSpPr>
        <a:xfrm>
          <a:off x="0" y="0"/>
          <a:ext cx="0" cy="0"/>
          <a:chOff x="0" y="0"/>
          <a:chExt cx="0" cy="0"/>
        </a:xfrm>
      </p:grpSpPr>
      <p:sp>
        <p:nvSpPr>
          <p:cNvPr id="4" name="Freeform 31">
            <a:extLst>
              <a:ext uri="{FF2B5EF4-FFF2-40B4-BE49-F238E27FC236}">
                <a16:creationId xmlns:a16="http://schemas.microsoft.com/office/drawing/2014/main" id="{0775C1F6-096B-AF49-8B40-2750AF020983}"/>
              </a:ext>
            </a:extLst>
          </p:cNvPr>
          <p:cNvSpPr>
            <a:spLocks noGrp="1"/>
          </p:cNvSpPr>
          <p:nvPr>
            <p:ph type="pic" sz="quarter" idx="14"/>
          </p:nvPr>
        </p:nvSpPr>
        <p:spPr>
          <a:xfrm>
            <a:off x="8634771" y="4982295"/>
            <a:ext cx="7098156" cy="15295377"/>
          </a:xfrm>
          <a:custGeom>
            <a:avLst/>
            <a:gdLst>
              <a:gd name="connsiteX0" fmla="*/ 646380 w 5264340"/>
              <a:gd name="connsiteY0" fmla="*/ 0 h 11126596"/>
              <a:gd name="connsiteX1" fmla="*/ 1063726 w 5264340"/>
              <a:gd name="connsiteY1" fmla="*/ 0 h 11126596"/>
              <a:gd name="connsiteX2" fmla="*/ 1143463 w 5264340"/>
              <a:gd name="connsiteY2" fmla="*/ 21612 h 11126596"/>
              <a:gd name="connsiteX3" fmla="*/ 1170607 w 5264340"/>
              <a:gd name="connsiteY3" fmla="*/ 96421 h 11126596"/>
              <a:gd name="connsiteX4" fmla="*/ 1538755 w 5264340"/>
              <a:gd name="connsiteY4" fmla="*/ 422256 h 11126596"/>
              <a:gd name="connsiteX5" fmla="*/ 3732371 w 5264340"/>
              <a:gd name="connsiteY5" fmla="*/ 422256 h 11126596"/>
              <a:gd name="connsiteX6" fmla="*/ 4098822 w 5264340"/>
              <a:gd name="connsiteY6" fmla="*/ 96421 h 11126596"/>
              <a:gd name="connsiteX7" fmla="*/ 4125967 w 5264340"/>
              <a:gd name="connsiteY7" fmla="*/ 21612 h 11126596"/>
              <a:gd name="connsiteX8" fmla="*/ 4207400 w 5264340"/>
              <a:gd name="connsiteY8" fmla="*/ 0 h 11126596"/>
              <a:gd name="connsiteX9" fmla="*/ 4623051 w 5264340"/>
              <a:gd name="connsiteY9" fmla="*/ 0 h 11126596"/>
              <a:gd name="connsiteX10" fmla="*/ 5264340 w 5264340"/>
              <a:gd name="connsiteY10" fmla="*/ 646683 h 11126596"/>
              <a:gd name="connsiteX11" fmla="*/ 5264340 w 5264340"/>
              <a:gd name="connsiteY11" fmla="*/ 718167 h 11126596"/>
              <a:gd name="connsiteX12" fmla="*/ 5264340 w 5264340"/>
              <a:gd name="connsiteY12" fmla="*/ 6234086 h 11126596"/>
              <a:gd name="connsiteX13" fmla="*/ 5264340 w 5264340"/>
              <a:gd name="connsiteY13" fmla="*/ 6423602 h 11126596"/>
              <a:gd name="connsiteX14" fmla="*/ 5264340 w 5264340"/>
              <a:gd name="connsiteY14" fmla="*/ 10408429 h 11126596"/>
              <a:gd name="connsiteX15" fmla="*/ 5264340 w 5264340"/>
              <a:gd name="connsiteY15" fmla="*/ 10479914 h 11126596"/>
              <a:gd name="connsiteX16" fmla="*/ 4623051 w 5264340"/>
              <a:gd name="connsiteY16" fmla="*/ 11126596 h 11126596"/>
              <a:gd name="connsiteX17" fmla="*/ 646380 w 5264340"/>
              <a:gd name="connsiteY17" fmla="*/ 11126596 h 11126596"/>
              <a:gd name="connsiteX18" fmla="*/ 1697 w 5264340"/>
              <a:gd name="connsiteY18" fmla="*/ 10479914 h 11126596"/>
              <a:gd name="connsiteX19" fmla="*/ 0 w 5264340"/>
              <a:gd name="connsiteY19" fmla="*/ 10408429 h 11126596"/>
              <a:gd name="connsiteX20" fmla="*/ 0 w 5264340"/>
              <a:gd name="connsiteY20" fmla="*/ 6423602 h 11126596"/>
              <a:gd name="connsiteX21" fmla="*/ 0 w 5264340"/>
              <a:gd name="connsiteY21" fmla="*/ 6234086 h 11126596"/>
              <a:gd name="connsiteX22" fmla="*/ 0 w 5264340"/>
              <a:gd name="connsiteY22" fmla="*/ 718167 h 11126596"/>
              <a:gd name="connsiteX23" fmla="*/ 1697 w 5264340"/>
              <a:gd name="connsiteY23" fmla="*/ 646683 h 11126596"/>
              <a:gd name="connsiteX24" fmla="*/ 646380 w 5264340"/>
              <a:gd name="connsiteY24" fmla="*/ 0 h 1112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64340" h="11126596">
                <a:moveTo>
                  <a:pt x="646380" y="0"/>
                </a:moveTo>
                <a:lnTo>
                  <a:pt x="1063726" y="0"/>
                </a:lnTo>
                <a:cubicBezTo>
                  <a:pt x="1109533" y="0"/>
                  <a:pt x="1128194" y="6650"/>
                  <a:pt x="1143463" y="21612"/>
                </a:cubicBezTo>
                <a:cubicBezTo>
                  <a:pt x="1160428" y="38236"/>
                  <a:pt x="1170607" y="58185"/>
                  <a:pt x="1170607" y="96421"/>
                </a:cubicBezTo>
                <a:cubicBezTo>
                  <a:pt x="1170607" y="304224"/>
                  <a:pt x="1299544" y="422256"/>
                  <a:pt x="1538755" y="422256"/>
                </a:cubicBezTo>
                <a:lnTo>
                  <a:pt x="3732371" y="422256"/>
                </a:lnTo>
                <a:cubicBezTo>
                  <a:pt x="3969886" y="422256"/>
                  <a:pt x="4098822" y="304224"/>
                  <a:pt x="4098822" y="96421"/>
                </a:cubicBezTo>
                <a:cubicBezTo>
                  <a:pt x="4098822" y="58185"/>
                  <a:pt x="4109002" y="38236"/>
                  <a:pt x="4125967" y="21612"/>
                </a:cubicBezTo>
                <a:cubicBezTo>
                  <a:pt x="4141236" y="6650"/>
                  <a:pt x="4159898" y="0"/>
                  <a:pt x="4207400" y="0"/>
                </a:cubicBezTo>
                <a:lnTo>
                  <a:pt x="4623051" y="0"/>
                </a:lnTo>
                <a:cubicBezTo>
                  <a:pt x="5033612" y="0"/>
                  <a:pt x="5264340" y="204478"/>
                  <a:pt x="5264340" y="646683"/>
                </a:cubicBezTo>
                <a:cubicBezTo>
                  <a:pt x="5264340" y="658320"/>
                  <a:pt x="5264340" y="706530"/>
                  <a:pt x="5264340" y="718167"/>
                </a:cubicBezTo>
                <a:lnTo>
                  <a:pt x="5264340" y="6234086"/>
                </a:lnTo>
                <a:lnTo>
                  <a:pt x="5264340" y="6423602"/>
                </a:lnTo>
                <a:lnTo>
                  <a:pt x="5264340" y="10408429"/>
                </a:lnTo>
                <a:cubicBezTo>
                  <a:pt x="5264340" y="10420066"/>
                  <a:pt x="5264340" y="10468277"/>
                  <a:pt x="5264340" y="10479914"/>
                </a:cubicBezTo>
                <a:cubicBezTo>
                  <a:pt x="5264340" y="10922118"/>
                  <a:pt x="5033612" y="11126596"/>
                  <a:pt x="4623051" y="11126596"/>
                </a:cubicBezTo>
                <a:lnTo>
                  <a:pt x="646380" y="11126596"/>
                </a:lnTo>
                <a:cubicBezTo>
                  <a:pt x="237515" y="11126596"/>
                  <a:pt x="1697" y="10922118"/>
                  <a:pt x="1697" y="10479914"/>
                </a:cubicBezTo>
                <a:cubicBezTo>
                  <a:pt x="1697" y="10468277"/>
                  <a:pt x="0" y="10420066"/>
                  <a:pt x="0" y="10408429"/>
                </a:cubicBezTo>
                <a:lnTo>
                  <a:pt x="0" y="6423602"/>
                </a:lnTo>
                <a:lnTo>
                  <a:pt x="0" y="6234086"/>
                </a:lnTo>
                <a:lnTo>
                  <a:pt x="0" y="718167"/>
                </a:lnTo>
                <a:cubicBezTo>
                  <a:pt x="0" y="706530"/>
                  <a:pt x="1697" y="658320"/>
                  <a:pt x="1697" y="646683"/>
                </a:cubicBezTo>
                <a:cubicBezTo>
                  <a:pt x="1697" y="204478"/>
                  <a:pt x="237515" y="0"/>
                  <a:pt x="646380" y="0"/>
                </a:cubicBezTo>
                <a:close/>
              </a:path>
            </a:pathLst>
          </a:custGeom>
          <a:solidFill>
            <a:schemeClr val="bg1">
              <a:lumMod val="95000"/>
            </a:schemeClr>
          </a:solidFill>
        </p:spPr>
        <p:txBody>
          <a:bodyPr wrap="square">
            <a:noAutofit/>
          </a:bodyPr>
          <a:lstStyle>
            <a:lvl1pPr>
              <a:defRPr sz="2101"/>
            </a:lvl1pPr>
          </a:lstStyle>
          <a:p>
            <a:endParaRPr lang="en-US" dirty="0"/>
          </a:p>
        </p:txBody>
      </p:sp>
    </p:spTree>
    <p:extLst>
      <p:ext uri="{BB962C8B-B14F-4D97-AF65-F5344CB8AC3E}">
        <p14:creationId xmlns:p14="http://schemas.microsoft.com/office/powerpoint/2010/main" val="334967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Slide">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3FECDCB2-2ED1-3B4B-8741-BEEB883D8D03}"/>
              </a:ext>
            </a:extLst>
          </p:cNvPr>
          <p:cNvSpPr>
            <a:spLocks noGrp="1"/>
          </p:cNvSpPr>
          <p:nvPr>
            <p:ph type="pic" sz="quarter" idx="14"/>
          </p:nvPr>
        </p:nvSpPr>
        <p:spPr>
          <a:xfrm>
            <a:off x="-359229" y="4255966"/>
            <a:ext cx="16123481" cy="9786605"/>
          </a:xfrm>
          <a:prstGeom prst="rect">
            <a:avLst/>
          </a:prstGeom>
          <a:solidFill>
            <a:schemeClr val="bg1">
              <a:lumMod val="95000"/>
            </a:schemeClr>
          </a:solidFill>
        </p:spPr>
        <p:txBody>
          <a:bodyPr>
            <a:normAutofit/>
          </a:bodyPr>
          <a:lstStyle>
            <a:lvl1pPr>
              <a:defRPr sz="2101"/>
            </a:lvl1pPr>
          </a:lstStyle>
          <a:p>
            <a:endParaRPr lang="en-US"/>
          </a:p>
        </p:txBody>
      </p:sp>
    </p:spTree>
    <p:extLst>
      <p:ext uri="{BB962C8B-B14F-4D97-AF65-F5344CB8AC3E}">
        <p14:creationId xmlns:p14="http://schemas.microsoft.com/office/powerpoint/2010/main" val="3965972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Slide">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13DEB66A-4246-BD47-A452-F13F7B7FC906}"/>
              </a:ext>
            </a:extLst>
          </p:cNvPr>
          <p:cNvSpPr>
            <a:spLocks noGrp="1"/>
          </p:cNvSpPr>
          <p:nvPr>
            <p:ph type="pic" sz="quarter" idx="15"/>
          </p:nvPr>
        </p:nvSpPr>
        <p:spPr>
          <a:xfrm>
            <a:off x="12846158" y="1733800"/>
            <a:ext cx="3005712" cy="3005706"/>
          </a:xfrm>
          <a:prstGeom prst="ellipse">
            <a:avLst/>
          </a:prstGeom>
          <a:solidFill>
            <a:schemeClr val="bg1">
              <a:lumMod val="95000"/>
            </a:schemeClr>
          </a:solidFill>
        </p:spPr>
        <p:txBody>
          <a:bodyPr>
            <a:normAutofit/>
          </a:bodyPr>
          <a:lstStyle>
            <a:lvl1pPr>
              <a:defRPr sz="2101"/>
            </a:lvl1pPr>
          </a:lstStyle>
          <a:p>
            <a:endParaRPr lang="en-US" dirty="0"/>
          </a:p>
        </p:txBody>
      </p:sp>
      <p:sp>
        <p:nvSpPr>
          <p:cNvPr id="8" name="Picture Placeholder 8">
            <a:extLst>
              <a:ext uri="{FF2B5EF4-FFF2-40B4-BE49-F238E27FC236}">
                <a16:creationId xmlns:a16="http://schemas.microsoft.com/office/drawing/2014/main" id="{474813D0-E68D-2E43-B326-89B3DE6FC634}"/>
              </a:ext>
            </a:extLst>
          </p:cNvPr>
          <p:cNvSpPr>
            <a:spLocks noGrp="1"/>
          </p:cNvSpPr>
          <p:nvPr>
            <p:ph type="pic" sz="quarter" idx="16"/>
          </p:nvPr>
        </p:nvSpPr>
        <p:spPr>
          <a:xfrm>
            <a:off x="12846158" y="5383903"/>
            <a:ext cx="3005712" cy="3005706"/>
          </a:xfrm>
          <a:prstGeom prst="ellipse">
            <a:avLst/>
          </a:prstGeom>
          <a:solidFill>
            <a:schemeClr val="bg1">
              <a:lumMod val="95000"/>
            </a:schemeClr>
          </a:solidFill>
        </p:spPr>
        <p:txBody>
          <a:bodyPr>
            <a:normAutofit/>
          </a:bodyPr>
          <a:lstStyle>
            <a:lvl1pPr>
              <a:defRPr sz="2101"/>
            </a:lvl1pPr>
          </a:lstStyle>
          <a:p>
            <a:endParaRPr lang="en-US" dirty="0"/>
          </a:p>
        </p:txBody>
      </p:sp>
      <p:sp>
        <p:nvSpPr>
          <p:cNvPr id="9" name="Picture Placeholder 8">
            <a:extLst>
              <a:ext uri="{FF2B5EF4-FFF2-40B4-BE49-F238E27FC236}">
                <a16:creationId xmlns:a16="http://schemas.microsoft.com/office/drawing/2014/main" id="{5F662A0E-E4AF-7F46-BEEA-4D648CF1B296}"/>
              </a:ext>
            </a:extLst>
          </p:cNvPr>
          <p:cNvSpPr>
            <a:spLocks noGrp="1"/>
          </p:cNvSpPr>
          <p:nvPr>
            <p:ph type="pic" sz="quarter" idx="17"/>
          </p:nvPr>
        </p:nvSpPr>
        <p:spPr>
          <a:xfrm>
            <a:off x="12846158" y="8976492"/>
            <a:ext cx="3005712" cy="3005706"/>
          </a:xfrm>
          <a:prstGeom prst="ellipse">
            <a:avLst/>
          </a:prstGeom>
          <a:solidFill>
            <a:schemeClr val="bg1">
              <a:lumMod val="95000"/>
            </a:schemeClr>
          </a:solidFill>
        </p:spPr>
        <p:txBody>
          <a:bodyPr>
            <a:normAutofit/>
          </a:bodyPr>
          <a:lstStyle>
            <a:lvl1pPr>
              <a:defRPr sz="2101"/>
            </a:lvl1pPr>
          </a:lstStyle>
          <a:p>
            <a:endParaRPr lang="en-US" dirty="0"/>
          </a:p>
        </p:txBody>
      </p:sp>
    </p:spTree>
    <p:extLst>
      <p:ext uri="{BB962C8B-B14F-4D97-AF65-F5344CB8AC3E}">
        <p14:creationId xmlns:p14="http://schemas.microsoft.com/office/powerpoint/2010/main" val="170401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5964" y="730251"/>
            <a:ext cx="21025723" cy="2651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75964" y="3651250"/>
            <a:ext cx="21025723" cy="8702676"/>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675964" y="12712701"/>
            <a:ext cx="5484971" cy="730250"/>
          </a:xfrm>
          <a:prstGeom prst="rect">
            <a:avLst/>
          </a:prstGeom>
        </p:spPr>
        <p:txBody>
          <a:bodyPr vert="horz" lIns="91440" tIns="45720" rIns="91440" bIns="45720" rtlCol="0" anchor="ctr"/>
          <a:lstStyle>
            <a:lvl1pPr algn="l">
              <a:defRPr sz="2399">
                <a:solidFill>
                  <a:schemeClr val="tx1">
                    <a:tint val="75000"/>
                  </a:schemeClr>
                </a:solidFill>
              </a:defRPr>
            </a:lvl1pPr>
          </a:lstStyle>
          <a:p>
            <a:fld id="{C764DE79-268F-4C1A-8933-263129D2AF90}" type="datetimeFigureOut">
              <a:rPr lang="en-US" dirty="0"/>
              <a:t>7/3/2026</a:t>
            </a:fld>
            <a:endParaRPr lang="en-US" dirty="0"/>
          </a:p>
        </p:txBody>
      </p:sp>
      <p:sp>
        <p:nvSpPr>
          <p:cNvPr id="5" name="Footer Placeholder 4"/>
          <p:cNvSpPr>
            <a:spLocks noGrp="1"/>
          </p:cNvSpPr>
          <p:nvPr>
            <p:ph type="ftr" sz="quarter" idx="3"/>
          </p:nvPr>
        </p:nvSpPr>
        <p:spPr>
          <a:xfrm>
            <a:off x="8075097" y="12712701"/>
            <a:ext cx="8227457" cy="730250"/>
          </a:xfrm>
          <a:prstGeom prst="rect">
            <a:avLst/>
          </a:prstGeom>
        </p:spPr>
        <p:txBody>
          <a:bodyPr vert="horz" lIns="91440" tIns="45720" rIns="91440" bIns="45720" rtlCol="0" anchor="ctr"/>
          <a:lstStyle>
            <a:lvl1pPr algn="ctr">
              <a:defRPr sz="2399">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7216715" y="12712701"/>
            <a:ext cx="5484971" cy="730250"/>
          </a:xfrm>
          <a:prstGeom prst="rect">
            <a:avLst/>
          </a:prstGeom>
        </p:spPr>
        <p:txBody>
          <a:bodyPr vert="horz" lIns="91440" tIns="45720" rIns="91440" bIns="45720" rtlCol="0" anchor="ctr"/>
          <a:lstStyle>
            <a:lvl1pPr algn="r">
              <a:defRPr sz="2399">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631059664"/>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Lst>
  <p:hf hdr="0" ftr="0" dt="0"/>
  <p:txStyles>
    <p:titleStyle>
      <a:lvl1pPr algn="l" defTabSz="1828343" rtl="0" eaLnBrk="1" latinLnBrk="0" hangingPunct="1">
        <a:lnSpc>
          <a:spcPct val="90000"/>
        </a:lnSpc>
        <a:spcBef>
          <a:spcPct val="0"/>
        </a:spcBef>
        <a:buNone/>
        <a:defRPr sz="8798" kern="1200">
          <a:solidFill>
            <a:schemeClr val="tx1"/>
          </a:solidFill>
          <a:latin typeface="+mj-lt"/>
          <a:ea typeface="+mj-ea"/>
          <a:cs typeface="+mj-cs"/>
        </a:defRPr>
      </a:lvl1pPr>
    </p:titleStyle>
    <p:bodyStyle>
      <a:lvl1pPr marL="0" indent="0" algn="l" defTabSz="1828343" rtl="0" eaLnBrk="1" latinLnBrk="0" hangingPunct="1">
        <a:lnSpc>
          <a:spcPct val="90000"/>
        </a:lnSpc>
        <a:spcBef>
          <a:spcPts val="2000"/>
        </a:spcBef>
        <a:buFont typeface="Arial" panose="020B0604020202020204" pitchFamily="34" charset="0"/>
        <a:buNone/>
        <a:defRPr sz="5599" kern="1200">
          <a:solidFill>
            <a:schemeClr val="tx1"/>
          </a:solidFill>
          <a:latin typeface="+mn-lt"/>
          <a:ea typeface="+mn-ea"/>
          <a:cs typeface="+mn-cs"/>
        </a:defRPr>
      </a:lvl1pPr>
      <a:lvl2pPr marL="914171" indent="0" algn="l" defTabSz="1828343" rtl="0" eaLnBrk="1" latinLnBrk="0" hangingPunct="1">
        <a:lnSpc>
          <a:spcPct val="90000"/>
        </a:lnSpc>
        <a:spcBef>
          <a:spcPts val="1000"/>
        </a:spcBef>
        <a:buFont typeface="Arial" panose="020B0604020202020204" pitchFamily="34" charset="0"/>
        <a:buNone/>
        <a:defRPr sz="4799" kern="1200">
          <a:solidFill>
            <a:schemeClr val="tx1"/>
          </a:solidFill>
          <a:latin typeface="+mn-lt"/>
          <a:ea typeface="+mn-ea"/>
          <a:cs typeface="+mn-cs"/>
        </a:defRPr>
      </a:lvl2pPr>
      <a:lvl3pPr marL="1828343" indent="0" algn="l" defTabSz="1828343" rtl="0" eaLnBrk="1" latinLnBrk="0" hangingPunct="1">
        <a:lnSpc>
          <a:spcPct val="90000"/>
        </a:lnSpc>
        <a:spcBef>
          <a:spcPts val="1000"/>
        </a:spcBef>
        <a:buFont typeface="Arial" panose="020B0604020202020204" pitchFamily="34" charset="0"/>
        <a:buNone/>
        <a:defRPr sz="3999" kern="1200">
          <a:solidFill>
            <a:schemeClr val="tx1"/>
          </a:solidFill>
          <a:latin typeface="+mn-lt"/>
          <a:ea typeface="+mn-ea"/>
          <a:cs typeface="+mn-cs"/>
        </a:defRPr>
      </a:lvl3pPr>
      <a:lvl4pPr marL="2742514" indent="0" algn="l" defTabSz="1828343" rtl="0" eaLnBrk="1" latinLnBrk="0" hangingPunct="1">
        <a:lnSpc>
          <a:spcPct val="90000"/>
        </a:lnSpc>
        <a:spcBef>
          <a:spcPts val="1000"/>
        </a:spcBef>
        <a:buFont typeface="Arial" panose="020B0604020202020204" pitchFamily="34" charset="0"/>
        <a:buNone/>
        <a:defRPr sz="3599" kern="1200">
          <a:solidFill>
            <a:schemeClr val="tx1"/>
          </a:solidFill>
          <a:latin typeface="+mn-lt"/>
          <a:ea typeface="+mn-ea"/>
          <a:cs typeface="+mn-cs"/>
        </a:defRPr>
      </a:lvl4pPr>
      <a:lvl5pPr marL="3656685" indent="0" algn="l" defTabSz="1828343" rtl="0" eaLnBrk="1" latinLnBrk="0" hangingPunct="1">
        <a:lnSpc>
          <a:spcPct val="90000"/>
        </a:lnSpc>
        <a:spcBef>
          <a:spcPts val="1000"/>
        </a:spcBef>
        <a:buFont typeface="Arial" panose="020B0604020202020204" pitchFamily="34" charset="0"/>
        <a:buNone/>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p:bodyStyle>
    <p:otherStyle>
      <a:defPPr>
        <a:defRPr lang="en-US"/>
      </a:defPPr>
      <a:lvl1pPr marL="0" algn="l" defTabSz="1828343" rtl="0" eaLnBrk="1" latinLnBrk="0" hangingPunct="1">
        <a:defRPr sz="3599" kern="1200">
          <a:solidFill>
            <a:schemeClr val="tx1"/>
          </a:solidFill>
          <a:latin typeface="+mn-lt"/>
          <a:ea typeface="+mn-ea"/>
          <a:cs typeface="+mn-cs"/>
        </a:defRPr>
      </a:lvl1pPr>
      <a:lvl2pPr marL="914171" algn="l" defTabSz="1828343" rtl="0" eaLnBrk="1" latinLnBrk="0" hangingPunct="1">
        <a:defRPr sz="3599" kern="1200">
          <a:solidFill>
            <a:schemeClr val="tx1"/>
          </a:solidFill>
          <a:latin typeface="+mn-lt"/>
          <a:ea typeface="+mn-ea"/>
          <a:cs typeface="+mn-cs"/>
        </a:defRPr>
      </a:lvl2pPr>
      <a:lvl3pPr marL="1828343" algn="l" defTabSz="1828343" rtl="0" eaLnBrk="1" latinLnBrk="0" hangingPunct="1">
        <a:defRPr sz="3599" kern="1200">
          <a:solidFill>
            <a:schemeClr val="tx1"/>
          </a:solidFill>
          <a:latin typeface="+mn-lt"/>
          <a:ea typeface="+mn-ea"/>
          <a:cs typeface="+mn-cs"/>
        </a:defRPr>
      </a:lvl3pPr>
      <a:lvl4pPr marL="2742514" algn="l" defTabSz="1828343" rtl="0" eaLnBrk="1" latinLnBrk="0" hangingPunct="1">
        <a:defRPr sz="3599" kern="1200">
          <a:solidFill>
            <a:schemeClr val="tx1"/>
          </a:solidFill>
          <a:latin typeface="+mn-lt"/>
          <a:ea typeface="+mn-ea"/>
          <a:cs typeface="+mn-cs"/>
        </a:defRPr>
      </a:lvl4pPr>
      <a:lvl5pPr marL="3656686" algn="l" defTabSz="1828343" rtl="0" eaLnBrk="1" latinLnBrk="0" hangingPunct="1">
        <a:defRPr sz="3599" kern="1200">
          <a:solidFill>
            <a:schemeClr val="tx1"/>
          </a:solidFill>
          <a:latin typeface="+mn-lt"/>
          <a:ea typeface="+mn-ea"/>
          <a:cs typeface="+mn-cs"/>
        </a:defRPr>
      </a:lvl5pPr>
      <a:lvl6pPr marL="4570857" algn="l" defTabSz="1828343" rtl="0" eaLnBrk="1" latinLnBrk="0" hangingPunct="1">
        <a:defRPr sz="3599" kern="1200">
          <a:solidFill>
            <a:schemeClr val="tx1"/>
          </a:solidFill>
          <a:latin typeface="+mn-lt"/>
          <a:ea typeface="+mn-ea"/>
          <a:cs typeface="+mn-cs"/>
        </a:defRPr>
      </a:lvl6pPr>
      <a:lvl7pPr marL="5485028" algn="l" defTabSz="1828343" rtl="0" eaLnBrk="1" latinLnBrk="0" hangingPunct="1">
        <a:defRPr sz="3599" kern="1200">
          <a:solidFill>
            <a:schemeClr val="tx1"/>
          </a:solidFill>
          <a:latin typeface="+mn-lt"/>
          <a:ea typeface="+mn-ea"/>
          <a:cs typeface="+mn-cs"/>
        </a:defRPr>
      </a:lvl7pPr>
      <a:lvl8pPr marL="6399200" algn="l" defTabSz="1828343" rtl="0" eaLnBrk="1" latinLnBrk="0" hangingPunct="1">
        <a:defRPr sz="3599" kern="1200">
          <a:solidFill>
            <a:schemeClr val="tx1"/>
          </a:solidFill>
          <a:latin typeface="+mn-lt"/>
          <a:ea typeface="+mn-ea"/>
          <a:cs typeface="+mn-cs"/>
        </a:defRPr>
      </a:lvl8pPr>
      <a:lvl9pPr marL="7313371" algn="l" defTabSz="1828343" rtl="0" eaLnBrk="1" latinLnBrk="0" hangingPunct="1">
        <a:defRPr sz="35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xhere.com/en/photo/1039674"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elcodigok.blogspot.com/2016/05/solucion-got-error-145-de-mysqldump.html" TargetMode="External"/><Relationship Id="rId7" Type="http://schemas.openxmlformats.org/officeDocument/2006/relationships/hyperlink" Target="https://www.flickr.com/photos/141573413@N04/42099499622" TargetMode="External"/><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hyperlink" Target="https://blog.hametbenoit.info/2019/11/04/power-bi-the-new-exe-installer-command-lines/" TargetMode="External"/><Relationship Id="rId4" Type="http://schemas.openxmlformats.org/officeDocument/2006/relationships/image" Target="../media/image4.png"/><Relationship Id="rId9" Type="http://schemas.openxmlformats.org/officeDocument/2006/relationships/hyperlink" Target="https://id.wikipedia.org/wiki/Microsoft_Excel"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80000"/>
          </a:schemeClr>
        </a:solidFill>
        <a:effectLst/>
      </p:bgPr>
    </p:bg>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A4B892E6-C15D-1D32-9E8F-B60426C0B447}"/>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1921" b="11921"/>
          <a:stretch>
            <a:fillRect/>
          </a:stretch>
        </p:blipFill>
        <p:spPr/>
      </p:pic>
      <p:sp>
        <p:nvSpPr>
          <p:cNvPr id="32" name="Rectangle 31">
            <a:extLst>
              <a:ext uri="{FF2B5EF4-FFF2-40B4-BE49-F238E27FC236}">
                <a16:creationId xmlns:a16="http://schemas.microsoft.com/office/drawing/2014/main" id="{46B5E956-B85B-2D4B-AC53-FC1428E2829F}"/>
              </a:ext>
            </a:extLst>
          </p:cNvPr>
          <p:cNvSpPr/>
          <p:nvPr/>
        </p:nvSpPr>
        <p:spPr>
          <a:xfrm rot="10800000" flipV="1">
            <a:off x="-276644" y="-261256"/>
            <a:ext cx="24930938" cy="14238512"/>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9751082-0290-1A48-B072-0EB9012836D8}"/>
              </a:ext>
            </a:extLst>
          </p:cNvPr>
          <p:cNvSpPr/>
          <p:nvPr/>
        </p:nvSpPr>
        <p:spPr>
          <a:xfrm rot="10800000" flipV="1">
            <a:off x="0" y="1323414"/>
            <a:ext cx="24377650" cy="55473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85000"/>
                </a:schemeClr>
              </a:solidFill>
            </a:endParaRPr>
          </a:p>
        </p:txBody>
      </p:sp>
      <p:sp>
        <p:nvSpPr>
          <p:cNvPr id="27" name="TextBox 26">
            <a:extLst>
              <a:ext uri="{FF2B5EF4-FFF2-40B4-BE49-F238E27FC236}">
                <a16:creationId xmlns:a16="http://schemas.microsoft.com/office/drawing/2014/main" id="{94CDEC56-A906-794E-9B05-FA128ECEF634}"/>
              </a:ext>
            </a:extLst>
          </p:cNvPr>
          <p:cNvSpPr txBox="1"/>
          <p:nvPr/>
        </p:nvSpPr>
        <p:spPr>
          <a:xfrm>
            <a:off x="680176" y="2516458"/>
            <a:ext cx="17489641" cy="1569660"/>
          </a:xfrm>
          <a:prstGeom prst="rect">
            <a:avLst/>
          </a:prstGeom>
          <a:noFill/>
          <a:ln>
            <a:noFill/>
          </a:ln>
        </p:spPr>
        <p:txBody>
          <a:bodyPr wrap="square" rtlCol="0">
            <a:spAutoFit/>
          </a:bodyPr>
          <a:lstStyle/>
          <a:p>
            <a:r>
              <a:rPr lang="en-US" sz="9600" b="1" spc="1000" dirty="0">
                <a:solidFill>
                  <a:schemeClr val="tx2">
                    <a:lumMod val="60000"/>
                    <a:lumOff val="40000"/>
                  </a:schemeClr>
                </a:solidFill>
                <a:latin typeface="Montserrat SemiBold" pitchFamily="2" charset="77"/>
                <a:ea typeface="Roboto Medium" panose="02000000000000000000" pitchFamily="2" charset="0"/>
                <a:cs typeface="Lato Light" panose="020F0502020204030203" pitchFamily="34" charset="0"/>
              </a:rPr>
              <a:t>Olist Store Analysis  </a:t>
            </a:r>
          </a:p>
        </p:txBody>
      </p:sp>
      <p:sp>
        <p:nvSpPr>
          <p:cNvPr id="9" name="TextBox 8">
            <a:extLst>
              <a:ext uri="{FF2B5EF4-FFF2-40B4-BE49-F238E27FC236}">
                <a16:creationId xmlns:a16="http://schemas.microsoft.com/office/drawing/2014/main" id="{A3CB7FFD-8B27-10B3-12B6-41C375D9458C}"/>
              </a:ext>
            </a:extLst>
          </p:cNvPr>
          <p:cNvSpPr txBox="1"/>
          <p:nvPr/>
        </p:nvSpPr>
        <p:spPr>
          <a:xfrm>
            <a:off x="677001" y="4347373"/>
            <a:ext cx="20228694" cy="707886"/>
          </a:xfrm>
          <a:prstGeom prst="rect">
            <a:avLst/>
          </a:prstGeom>
          <a:noFill/>
          <a:ln>
            <a:noFill/>
          </a:ln>
        </p:spPr>
        <p:txBody>
          <a:bodyPr wrap="square" rtlCol="0">
            <a:spAutoFit/>
          </a:bodyPr>
          <a:lstStyle/>
          <a:p>
            <a:r>
              <a:rPr lang="en-US" sz="4000" b="1" spc="1000" dirty="0">
                <a:solidFill>
                  <a:schemeClr val="bg1"/>
                </a:solidFill>
                <a:latin typeface="Montserrat SemiBold" pitchFamily="2" charset="77"/>
                <a:ea typeface="Roboto Medium" panose="02000000000000000000" pitchFamily="2" charset="0"/>
                <a:cs typeface="Lato Light" panose="020F0502020204030203" pitchFamily="34" charset="0"/>
              </a:rPr>
              <a:t>Uncovering E-commerce Trends with Data Analytics  </a:t>
            </a:r>
          </a:p>
        </p:txBody>
      </p:sp>
      <p:sp>
        <p:nvSpPr>
          <p:cNvPr id="3" name="Rectangle: Rounded Corners 2">
            <a:extLst>
              <a:ext uri="{FF2B5EF4-FFF2-40B4-BE49-F238E27FC236}">
                <a16:creationId xmlns:a16="http://schemas.microsoft.com/office/drawing/2014/main" id="{A2C2190C-B012-7BE4-1249-35F362449077}"/>
              </a:ext>
            </a:extLst>
          </p:cNvPr>
          <p:cNvSpPr/>
          <p:nvPr/>
        </p:nvSpPr>
        <p:spPr>
          <a:xfrm>
            <a:off x="6123709" y="8091055"/>
            <a:ext cx="9199418" cy="152400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IN" b="1" spc="50" dirty="0">
                <a:ln w="0"/>
                <a:solidFill>
                  <a:schemeClr val="bg2"/>
                </a:solidFill>
                <a:effectLst>
                  <a:innerShdw blurRad="63500" dist="50800" dir="13500000">
                    <a:srgbClr val="000000">
                      <a:alpha val="50000"/>
                    </a:srgbClr>
                  </a:innerShdw>
                </a:effectLst>
              </a:rPr>
              <a:t> By</a:t>
            </a:r>
          </a:p>
          <a:p>
            <a:pPr algn="ctr"/>
            <a:r>
              <a:rPr lang="en-IN" b="1" spc="50" dirty="0">
                <a:ln w="0"/>
                <a:solidFill>
                  <a:schemeClr val="bg2"/>
                </a:solidFill>
                <a:effectLst>
                  <a:innerShdw blurRad="63500" dist="50800" dir="13500000">
                    <a:srgbClr val="000000">
                      <a:alpha val="50000"/>
                    </a:srgbClr>
                  </a:innerShdw>
                </a:effectLst>
              </a:rPr>
              <a:t> AKULA SRUJANASHEELA</a:t>
            </a:r>
          </a:p>
        </p:txBody>
      </p:sp>
    </p:spTree>
    <p:extLst>
      <p:ext uri="{BB962C8B-B14F-4D97-AF65-F5344CB8AC3E}">
        <p14:creationId xmlns:p14="http://schemas.microsoft.com/office/powerpoint/2010/main" val="2048896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BD414D2F-6EAA-3945-858A-FCFC6C102C61}"/>
              </a:ext>
            </a:extLst>
          </p:cNvPr>
          <p:cNvSpPr txBox="1"/>
          <p:nvPr/>
        </p:nvSpPr>
        <p:spPr>
          <a:xfrm>
            <a:off x="833593" y="727936"/>
            <a:ext cx="7431865"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Introduction</a:t>
            </a:r>
          </a:p>
        </p:txBody>
      </p:sp>
      <p:sp>
        <p:nvSpPr>
          <p:cNvPr id="40" name="Rectangle 39">
            <a:extLst>
              <a:ext uri="{FF2B5EF4-FFF2-40B4-BE49-F238E27FC236}">
                <a16:creationId xmlns:a16="http://schemas.microsoft.com/office/drawing/2014/main" id="{20497374-0121-2845-B4EA-B591BC64AAF4}"/>
              </a:ext>
            </a:extLst>
          </p:cNvPr>
          <p:cNvSpPr/>
          <p:nvPr/>
        </p:nvSpPr>
        <p:spPr>
          <a:xfrm rot="10800000" flipV="1">
            <a:off x="7835152" y="1389654"/>
            <a:ext cx="16542497" cy="20602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51CDFC1F-C08B-447A-4275-61A16E7D2879}"/>
              </a:ext>
            </a:extLst>
          </p:cNvPr>
          <p:cNvSpPr txBox="1"/>
          <p:nvPr/>
        </p:nvSpPr>
        <p:spPr>
          <a:xfrm>
            <a:off x="833593" y="3067255"/>
            <a:ext cx="22600148" cy="8894743"/>
          </a:xfrm>
          <a:prstGeom prst="rect">
            <a:avLst/>
          </a:prstGeom>
          <a:noFill/>
          <a:ln>
            <a:noFill/>
          </a:ln>
        </p:spPr>
        <p:txBody>
          <a:bodyPr wrap="square" rtlCol="0">
            <a:spAutoFit/>
          </a:bodyPr>
          <a:lstStyle/>
          <a:p>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Project Objective (Why this analysis?):</a:t>
            </a:r>
          </a:p>
          <a:p>
            <a:pPr algn="just"/>
            <a:endParaRPr lang="en-US" sz="5000" b="1"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Olist is one of the largest e-commerce marketplaces in Brazil, connecting sellers with customers.</a:t>
            </a: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The goal of this analysis is to use data analytics to uncover sales trends, Customer behavior, and seller performance.</a:t>
            </a: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Main Goal: Understanding what drives customer satisfaction and revenue growth.</a:t>
            </a:r>
          </a:p>
          <a:p>
            <a:pPr algn="just"/>
            <a:r>
              <a:rPr lang="en-US" sz="7200" dirty="0">
                <a:solidFill>
                  <a:schemeClr val="tx2"/>
                </a:solidFill>
                <a:latin typeface="Montserrat Medium" pitchFamily="2" charset="77"/>
                <a:ea typeface="Roboto Medium" panose="02000000000000000000" pitchFamily="2" charset="0"/>
                <a:cs typeface="Lato Light" panose="020F0502020204030203" pitchFamily="34" charset="0"/>
              </a:rPr>
              <a:t>  </a:t>
            </a:r>
          </a:p>
        </p:txBody>
      </p:sp>
    </p:spTree>
    <p:extLst>
      <p:ext uri="{BB962C8B-B14F-4D97-AF65-F5344CB8AC3E}">
        <p14:creationId xmlns:p14="http://schemas.microsoft.com/office/powerpoint/2010/main" val="3257833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009CEE-63B9-5B77-BB75-67DAF51AE6D2}"/>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222AC6E-0414-7BA7-ED7B-B10B02150923}"/>
              </a:ext>
            </a:extLst>
          </p:cNvPr>
          <p:cNvSpPr txBox="1"/>
          <p:nvPr/>
        </p:nvSpPr>
        <p:spPr>
          <a:xfrm>
            <a:off x="833593" y="727936"/>
            <a:ext cx="7431865"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Introduction</a:t>
            </a:r>
          </a:p>
        </p:txBody>
      </p:sp>
      <p:sp>
        <p:nvSpPr>
          <p:cNvPr id="40" name="Rectangle 39">
            <a:extLst>
              <a:ext uri="{FF2B5EF4-FFF2-40B4-BE49-F238E27FC236}">
                <a16:creationId xmlns:a16="http://schemas.microsoft.com/office/drawing/2014/main" id="{CDD5BD49-B0D8-2DC9-A0A3-1EA508482531}"/>
              </a:ext>
            </a:extLst>
          </p:cNvPr>
          <p:cNvSpPr/>
          <p:nvPr/>
        </p:nvSpPr>
        <p:spPr>
          <a:xfrm rot="10800000" flipV="1">
            <a:off x="7835152" y="1389654"/>
            <a:ext cx="16542497" cy="20602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83859C4F-E0DA-D5A4-58DE-CBDD0BACBEA3}"/>
              </a:ext>
            </a:extLst>
          </p:cNvPr>
          <p:cNvSpPr txBox="1"/>
          <p:nvPr/>
        </p:nvSpPr>
        <p:spPr>
          <a:xfrm>
            <a:off x="1084587" y="2862687"/>
            <a:ext cx="22584996" cy="7786747"/>
          </a:xfrm>
          <a:prstGeom prst="rect">
            <a:avLst/>
          </a:prstGeom>
          <a:noFill/>
          <a:ln>
            <a:noFill/>
          </a:ln>
        </p:spPr>
        <p:txBody>
          <a:bodyPr wrap="square" rtlCol="0">
            <a:spAutoFit/>
          </a:bodyPr>
          <a:lstStyle/>
          <a:p>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Key Business Questions Answered :</a:t>
            </a:r>
          </a:p>
          <a:p>
            <a:endParaRPr lang="en-US" sz="5000" b="1"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b="1" dirty="0">
                <a:solidFill>
                  <a:schemeClr val="tx2"/>
                </a:solidFill>
                <a:latin typeface="Montserrat Medium" pitchFamily="2" charset="77"/>
                <a:ea typeface="Roboto Medium" panose="02000000000000000000" pitchFamily="2" charset="0"/>
                <a:cs typeface="Lato Light" panose="020F0502020204030203" pitchFamily="34" charset="0"/>
              </a:rPr>
              <a:t>        </a:t>
            </a: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Do customers place more orders on weekends or weekends?</a:t>
            </a: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Is the average payment value higher on weekends?</a:t>
            </a: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How many orders received a 5-star review and were paid via    </a:t>
            </a:r>
            <a:r>
              <a:rPr lang="en-US" sz="5000" dirty="0">
                <a:solidFill>
                  <a:schemeClr val="bg1"/>
                </a:solidFill>
                <a:latin typeface="Montserrat Medium" pitchFamily="2" charset="77"/>
                <a:ea typeface="Roboto Medium" panose="02000000000000000000" pitchFamily="2" charset="0"/>
                <a:cs typeface="Lato Light" panose="020F0502020204030203" pitchFamily="34" charset="0"/>
              </a:rPr>
              <a:t>………</a:t>
            </a: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credit card?</a:t>
            </a: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What is the average delivery time for pet shop products?</a:t>
            </a:r>
          </a:p>
        </p:txBody>
      </p:sp>
      <p:pic>
        <p:nvPicPr>
          <p:cNvPr id="4" name="Graphic 3" descr="Checkmark">
            <a:extLst>
              <a:ext uri="{FF2B5EF4-FFF2-40B4-BE49-F238E27FC236}">
                <a16:creationId xmlns:a16="http://schemas.microsoft.com/office/drawing/2014/main" id="{9582F4A4-36AB-7AB0-4FC9-DA2861DB36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4586" y="4362598"/>
            <a:ext cx="1141136" cy="1141136"/>
          </a:xfrm>
          <a:prstGeom prst="rect">
            <a:avLst/>
          </a:prstGeom>
        </p:spPr>
      </p:pic>
      <p:pic>
        <p:nvPicPr>
          <p:cNvPr id="5" name="Graphic 4" descr="Checkmark">
            <a:extLst>
              <a:ext uri="{FF2B5EF4-FFF2-40B4-BE49-F238E27FC236}">
                <a16:creationId xmlns:a16="http://schemas.microsoft.com/office/drawing/2014/main" id="{EC75D713-DF8D-645B-D1E0-FCAAF95FBCE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4586" y="5734199"/>
            <a:ext cx="1141136" cy="1141136"/>
          </a:xfrm>
          <a:prstGeom prst="rect">
            <a:avLst/>
          </a:prstGeom>
        </p:spPr>
      </p:pic>
      <p:pic>
        <p:nvPicPr>
          <p:cNvPr id="6" name="Graphic 5" descr="Checkmark">
            <a:extLst>
              <a:ext uri="{FF2B5EF4-FFF2-40B4-BE49-F238E27FC236}">
                <a16:creationId xmlns:a16="http://schemas.microsoft.com/office/drawing/2014/main" id="{8870A270-E2BF-0826-9DF3-F92BFF1C854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4586" y="7196200"/>
            <a:ext cx="1141136" cy="1141136"/>
          </a:xfrm>
          <a:prstGeom prst="rect">
            <a:avLst/>
          </a:prstGeom>
        </p:spPr>
      </p:pic>
      <p:pic>
        <p:nvPicPr>
          <p:cNvPr id="7" name="Graphic 6" descr="Checkmark">
            <a:extLst>
              <a:ext uri="{FF2B5EF4-FFF2-40B4-BE49-F238E27FC236}">
                <a16:creationId xmlns:a16="http://schemas.microsoft.com/office/drawing/2014/main" id="{CBD62A61-71EC-8E88-5632-BC27ECF455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4586" y="9604339"/>
            <a:ext cx="1141136" cy="1141136"/>
          </a:xfrm>
          <a:prstGeom prst="rect">
            <a:avLst/>
          </a:prstGeom>
        </p:spPr>
      </p:pic>
    </p:spTree>
    <p:extLst>
      <p:ext uri="{BB962C8B-B14F-4D97-AF65-F5344CB8AC3E}">
        <p14:creationId xmlns:p14="http://schemas.microsoft.com/office/powerpoint/2010/main" val="196391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083220-3C12-26D5-D08C-6540F0EDE1E7}"/>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D8305DE-2839-96F3-EC55-41FBB6733795}"/>
              </a:ext>
            </a:extLst>
          </p:cNvPr>
          <p:cNvSpPr txBox="1"/>
          <p:nvPr/>
        </p:nvSpPr>
        <p:spPr>
          <a:xfrm>
            <a:off x="833593" y="727936"/>
            <a:ext cx="7431865"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Introduction</a:t>
            </a:r>
          </a:p>
        </p:txBody>
      </p:sp>
      <p:sp>
        <p:nvSpPr>
          <p:cNvPr id="40" name="Rectangle 39">
            <a:extLst>
              <a:ext uri="{FF2B5EF4-FFF2-40B4-BE49-F238E27FC236}">
                <a16:creationId xmlns:a16="http://schemas.microsoft.com/office/drawing/2014/main" id="{65ABC488-9EF2-0574-ABEE-F325D8C97B84}"/>
              </a:ext>
            </a:extLst>
          </p:cNvPr>
          <p:cNvSpPr/>
          <p:nvPr/>
        </p:nvSpPr>
        <p:spPr>
          <a:xfrm rot="10800000" flipV="1">
            <a:off x="7835152" y="1389654"/>
            <a:ext cx="16542497" cy="20602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16A900E5-53A3-8EEC-E565-3D13D995CE0F}"/>
              </a:ext>
            </a:extLst>
          </p:cNvPr>
          <p:cNvSpPr txBox="1"/>
          <p:nvPr/>
        </p:nvSpPr>
        <p:spPr>
          <a:xfrm>
            <a:off x="833593" y="3001001"/>
            <a:ext cx="22295348" cy="7017306"/>
          </a:xfrm>
          <a:prstGeom prst="rect">
            <a:avLst/>
          </a:prstGeom>
          <a:noFill/>
          <a:ln>
            <a:noFill/>
          </a:ln>
        </p:spPr>
        <p:txBody>
          <a:bodyPr wrap="square" rtlCol="0">
            <a:spAutoFit/>
          </a:bodyPr>
          <a:lstStyle/>
          <a:p>
            <a:pPr algn="just"/>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Key Business Questions Answered :</a:t>
            </a:r>
          </a:p>
          <a:p>
            <a:pPr algn="just"/>
            <a:endParaRPr lang="en-US" sz="5000" b="1"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b="1" dirty="0">
                <a:solidFill>
                  <a:schemeClr val="tx2"/>
                </a:solidFill>
                <a:latin typeface="Montserrat Medium" pitchFamily="2" charset="77"/>
                <a:ea typeface="Roboto Medium" panose="02000000000000000000" pitchFamily="2" charset="0"/>
                <a:cs typeface="Lato Light" panose="020F0502020204030203" pitchFamily="34" charset="0"/>
              </a:rPr>
              <a:t>        </a:t>
            </a: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What is the average product price and payment value for  </a:t>
            </a:r>
            <a:r>
              <a:rPr lang="en-US" sz="5000" dirty="0">
                <a:solidFill>
                  <a:schemeClr val="bg1"/>
                </a:solidFill>
                <a:latin typeface="Montserrat Medium" pitchFamily="2" charset="77"/>
                <a:ea typeface="Roboto Medium" panose="02000000000000000000" pitchFamily="2" charset="0"/>
                <a:cs typeface="Lato Light" panose="020F0502020204030203" pitchFamily="34" charset="0"/>
              </a:rPr>
              <a:t>……….</a:t>
            </a: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customers in Sao Paulo?</a:t>
            </a: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What is the relationship between shipping days and </a:t>
            </a:r>
            <a:r>
              <a:rPr lang="en-US" sz="5000" dirty="0">
                <a:solidFill>
                  <a:schemeClr val="bg1"/>
                </a:solidFill>
                <a:latin typeface="Montserrat Medium" pitchFamily="2" charset="77"/>
                <a:ea typeface="Roboto Medium" panose="02000000000000000000" pitchFamily="2" charset="0"/>
                <a:cs typeface="Lato Light" panose="020F0502020204030203" pitchFamily="34" charset="0"/>
              </a:rPr>
              <a:t>……….</a:t>
            </a: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customer review scores?</a:t>
            </a: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Does faster delivery lead to higher ratings?</a:t>
            </a:r>
          </a:p>
        </p:txBody>
      </p:sp>
      <p:pic>
        <p:nvPicPr>
          <p:cNvPr id="4" name="Graphic 3" descr="Checkmark">
            <a:extLst>
              <a:ext uri="{FF2B5EF4-FFF2-40B4-BE49-F238E27FC236}">
                <a16:creationId xmlns:a16="http://schemas.microsoft.com/office/drawing/2014/main" id="{44DC93D8-81B4-2BCD-A884-AE8A7D5526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4586" y="4620218"/>
            <a:ext cx="987378" cy="987378"/>
          </a:xfrm>
          <a:prstGeom prst="rect">
            <a:avLst/>
          </a:prstGeom>
        </p:spPr>
      </p:pic>
      <p:pic>
        <p:nvPicPr>
          <p:cNvPr id="5" name="Graphic 4" descr="Checkmark">
            <a:extLst>
              <a:ext uri="{FF2B5EF4-FFF2-40B4-BE49-F238E27FC236}">
                <a16:creationId xmlns:a16="http://schemas.microsoft.com/office/drawing/2014/main" id="{53649079-B564-1DE7-347B-A5BC345046D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4586" y="6821895"/>
            <a:ext cx="987378" cy="987378"/>
          </a:xfrm>
          <a:prstGeom prst="rect">
            <a:avLst/>
          </a:prstGeom>
        </p:spPr>
      </p:pic>
      <p:pic>
        <p:nvPicPr>
          <p:cNvPr id="6" name="Graphic 5" descr="Checkmark">
            <a:extLst>
              <a:ext uri="{FF2B5EF4-FFF2-40B4-BE49-F238E27FC236}">
                <a16:creationId xmlns:a16="http://schemas.microsoft.com/office/drawing/2014/main" id="{20409A5C-2D96-F869-BE75-2C076EE924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4586" y="9117063"/>
            <a:ext cx="987378" cy="987378"/>
          </a:xfrm>
          <a:prstGeom prst="rect">
            <a:avLst/>
          </a:prstGeom>
        </p:spPr>
      </p:pic>
    </p:spTree>
    <p:extLst>
      <p:ext uri="{BB962C8B-B14F-4D97-AF65-F5344CB8AC3E}">
        <p14:creationId xmlns:p14="http://schemas.microsoft.com/office/powerpoint/2010/main" val="2421360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8316DB-D88E-82C7-288F-CD2B544BC6BE}"/>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2CF9D33-4861-5048-9DF4-0ED3CA710BBB}"/>
              </a:ext>
            </a:extLst>
          </p:cNvPr>
          <p:cNvSpPr txBox="1"/>
          <p:nvPr/>
        </p:nvSpPr>
        <p:spPr>
          <a:xfrm>
            <a:off x="833593" y="727936"/>
            <a:ext cx="7431865"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Introduction</a:t>
            </a:r>
          </a:p>
        </p:txBody>
      </p:sp>
      <p:sp>
        <p:nvSpPr>
          <p:cNvPr id="40" name="Rectangle 39">
            <a:extLst>
              <a:ext uri="{FF2B5EF4-FFF2-40B4-BE49-F238E27FC236}">
                <a16:creationId xmlns:a16="http://schemas.microsoft.com/office/drawing/2014/main" id="{33D0C803-8012-7037-9F79-614594669523}"/>
              </a:ext>
            </a:extLst>
          </p:cNvPr>
          <p:cNvSpPr/>
          <p:nvPr/>
        </p:nvSpPr>
        <p:spPr>
          <a:xfrm rot="10800000" flipV="1">
            <a:off x="7835152" y="1389654"/>
            <a:ext cx="16542497" cy="20602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ubtitle 2">
            <a:extLst>
              <a:ext uri="{FF2B5EF4-FFF2-40B4-BE49-F238E27FC236}">
                <a16:creationId xmlns:a16="http://schemas.microsoft.com/office/drawing/2014/main" id="{8C3B4F9A-4C5C-7680-C337-D09A34CFA98F}"/>
              </a:ext>
            </a:extLst>
          </p:cNvPr>
          <p:cNvSpPr txBox="1">
            <a:spLocks/>
          </p:cNvSpPr>
          <p:nvPr/>
        </p:nvSpPr>
        <p:spPr>
          <a:xfrm>
            <a:off x="16207326" y="5865197"/>
            <a:ext cx="6566365" cy="773557"/>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3600" dirty="0">
                <a:solidFill>
                  <a:schemeClr val="tx1"/>
                </a:solidFill>
                <a:latin typeface="Montserrat Light" pitchFamily="2" charset="77"/>
                <a:ea typeface="Roboto Light" panose="02000000000000000000" pitchFamily="2" charset="0"/>
                <a:cs typeface="Lato Light" panose="020F0502020204030203" pitchFamily="34" charset="0"/>
              </a:rPr>
              <a:t>Advance Visuals.</a:t>
            </a:r>
          </a:p>
        </p:txBody>
      </p:sp>
      <p:sp>
        <p:nvSpPr>
          <p:cNvPr id="7" name="Rectangle 6">
            <a:extLst>
              <a:ext uri="{FF2B5EF4-FFF2-40B4-BE49-F238E27FC236}">
                <a16:creationId xmlns:a16="http://schemas.microsoft.com/office/drawing/2014/main" id="{32D6F62F-DF2A-9726-5AF0-01D79BD9ED05}"/>
              </a:ext>
            </a:extLst>
          </p:cNvPr>
          <p:cNvSpPr/>
          <p:nvPr/>
        </p:nvSpPr>
        <p:spPr>
          <a:xfrm>
            <a:off x="16426104" y="5157311"/>
            <a:ext cx="5182682" cy="707886"/>
          </a:xfrm>
          <a:prstGeom prst="rect">
            <a:avLst/>
          </a:prstGeom>
        </p:spPr>
        <p:txBody>
          <a:bodyPr wrap="square">
            <a:spAutoFit/>
          </a:bodyPr>
          <a:lstStyle/>
          <a:p>
            <a:r>
              <a:rPr lang="en-US" sz="4000" b="1" dirty="0">
                <a:solidFill>
                  <a:schemeClr val="tx2"/>
                </a:solidFill>
                <a:latin typeface="Montserrat SemiBold" pitchFamily="2" charset="77"/>
                <a:ea typeface="Roboto" panose="02000000000000000000" pitchFamily="2" charset="0"/>
                <a:cs typeface="Lato Light" panose="020F0502020204030203" pitchFamily="34" charset="0"/>
              </a:rPr>
              <a:t>Tableau</a:t>
            </a:r>
          </a:p>
        </p:txBody>
      </p:sp>
      <p:sp>
        <p:nvSpPr>
          <p:cNvPr id="8" name="Subtitle 2">
            <a:extLst>
              <a:ext uri="{FF2B5EF4-FFF2-40B4-BE49-F238E27FC236}">
                <a16:creationId xmlns:a16="http://schemas.microsoft.com/office/drawing/2014/main" id="{8CAFDF2D-AC2F-BD36-6D44-FF413E3044E9}"/>
              </a:ext>
            </a:extLst>
          </p:cNvPr>
          <p:cNvSpPr txBox="1">
            <a:spLocks/>
          </p:cNvSpPr>
          <p:nvPr/>
        </p:nvSpPr>
        <p:spPr>
          <a:xfrm>
            <a:off x="16150734" y="10394458"/>
            <a:ext cx="6566365" cy="773557"/>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3600" dirty="0">
                <a:solidFill>
                  <a:schemeClr val="tx1"/>
                </a:solidFill>
                <a:latin typeface="Montserrat Light" pitchFamily="2" charset="77"/>
                <a:ea typeface="Roboto Light" panose="02000000000000000000" pitchFamily="2" charset="0"/>
                <a:cs typeface="Lato Light" panose="020F0502020204030203" pitchFamily="34" charset="0"/>
              </a:rPr>
              <a:t>Data Extraction.</a:t>
            </a:r>
          </a:p>
        </p:txBody>
      </p:sp>
      <p:sp>
        <p:nvSpPr>
          <p:cNvPr id="9" name="Rectangle 8">
            <a:extLst>
              <a:ext uri="{FF2B5EF4-FFF2-40B4-BE49-F238E27FC236}">
                <a16:creationId xmlns:a16="http://schemas.microsoft.com/office/drawing/2014/main" id="{CA1098B5-1CF5-9652-33C0-313B779CDD61}"/>
              </a:ext>
            </a:extLst>
          </p:cNvPr>
          <p:cNvSpPr/>
          <p:nvPr/>
        </p:nvSpPr>
        <p:spPr>
          <a:xfrm>
            <a:off x="16369512" y="9686572"/>
            <a:ext cx="5182682" cy="707886"/>
          </a:xfrm>
          <a:prstGeom prst="rect">
            <a:avLst/>
          </a:prstGeom>
        </p:spPr>
        <p:txBody>
          <a:bodyPr wrap="square">
            <a:spAutoFit/>
          </a:bodyPr>
          <a:lstStyle/>
          <a:p>
            <a:r>
              <a:rPr lang="en-US" sz="4000" b="1" dirty="0">
                <a:solidFill>
                  <a:schemeClr val="tx2"/>
                </a:solidFill>
                <a:latin typeface="Montserrat SemiBold" pitchFamily="2" charset="77"/>
                <a:ea typeface="Roboto" panose="02000000000000000000" pitchFamily="2" charset="0"/>
                <a:cs typeface="Lato Light" panose="020F0502020204030203" pitchFamily="34" charset="0"/>
              </a:rPr>
              <a:t>MySQL</a:t>
            </a:r>
          </a:p>
        </p:txBody>
      </p:sp>
      <p:pic>
        <p:nvPicPr>
          <p:cNvPr id="10" name="Picture 9">
            <a:extLst>
              <a:ext uri="{FF2B5EF4-FFF2-40B4-BE49-F238E27FC236}">
                <a16:creationId xmlns:a16="http://schemas.microsoft.com/office/drawing/2014/main" id="{45A92374-B3FE-CDB0-24E8-766369150747}"/>
              </a:ext>
            </a:extLst>
          </p:cNvPr>
          <p:cNvPicPr>
            <a:picLocks noChangeAspect="1"/>
          </p:cNvPicPr>
          <p:nvPr/>
        </p:nvPicPr>
        <p:blipFill>
          <a:blip r:embed="rId2" cstate="email">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089" r="17702"/>
          <a:stretch/>
        </p:blipFill>
        <p:spPr>
          <a:xfrm>
            <a:off x="13165231" y="8727459"/>
            <a:ext cx="3094892" cy="2976816"/>
          </a:xfrm>
          <a:prstGeom prst="rect">
            <a:avLst/>
          </a:prstGeom>
        </p:spPr>
      </p:pic>
      <p:sp>
        <p:nvSpPr>
          <p:cNvPr id="11" name="Subtitle 2">
            <a:extLst>
              <a:ext uri="{FF2B5EF4-FFF2-40B4-BE49-F238E27FC236}">
                <a16:creationId xmlns:a16="http://schemas.microsoft.com/office/drawing/2014/main" id="{214A51B0-845D-3BA5-8A84-9943C8F886EA}"/>
              </a:ext>
            </a:extLst>
          </p:cNvPr>
          <p:cNvSpPr txBox="1">
            <a:spLocks/>
          </p:cNvSpPr>
          <p:nvPr/>
        </p:nvSpPr>
        <p:spPr>
          <a:xfrm>
            <a:off x="3568801" y="5877068"/>
            <a:ext cx="7491413" cy="773557"/>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3600" dirty="0">
                <a:solidFill>
                  <a:schemeClr val="tx1"/>
                </a:solidFill>
                <a:latin typeface="Montserrat Light" pitchFamily="2" charset="77"/>
                <a:ea typeface="Roboto Light" panose="02000000000000000000" pitchFamily="2" charset="0"/>
                <a:cs typeface="Lato Light" panose="020F0502020204030203" pitchFamily="34" charset="0"/>
              </a:rPr>
              <a:t>Data Cleaning &amp; Basic Analysis.</a:t>
            </a:r>
          </a:p>
        </p:txBody>
      </p:sp>
      <p:sp>
        <p:nvSpPr>
          <p:cNvPr id="12" name="Subtitle 2">
            <a:extLst>
              <a:ext uri="{FF2B5EF4-FFF2-40B4-BE49-F238E27FC236}">
                <a16:creationId xmlns:a16="http://schemas.microsoft.com/office/drawing/2014/main" id="{8FA8D1EA-4CE6-48DB-8CE0-B4EC646FFD5A}"/>
              </a:ext>
            </a:extLst>
          </p:cNvPr>
          <p:cNvSpPr txBox="1">
            <a:spLocks/>
          </p:cNvSpPr>
          <p:nvPr/>
        </p:nvSpPr>
        <p:spPr>
          <a:xfrm>
            <a:off x="3568801" y="10444031"/>
            <a:ext cx="6838096" cy="773557"/>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3600" dirty="0">
                <a:solidFill>
                  <a:schemeClr val="tx1"/>
                </a:solidFill>
                <a:latin typeface="Montserrat Light" pitchFamily="2" charset="77"/>
                <a:ea typeface="Roboto Light" panose="02000000000000000000" pitchFamily="2" charset="0"/>
                <a:cs typeface="Lato Light" panose="020F0502020204030203" pitchFamily="34" charset="0"/>
              </a:rPr>
              <a:t>Microsoft Visualization Tool.</a:t>
            </a:r>
          </a:p>
        </p:txBody>
      </p:sp>
      <p:sp>
        <p:nvSpPr>
          <p:cNvPr id="13" name="Rectangle 12">
            <a:extLst>
              <a:ext uri="{FF2B5EF4-FFF2-40B4-BE49-F238E27FC236}">
                <a16:creationId xmlns:a16="http://schemas.microsoft.com/office/drawing/2014/main" id="{50CE7AFA-5485-44F3-26EE-7E8A5F11273F}"/>
              </a:ext>
            </a:extLst>
          </p:cNvPr>
          <p:cNvSpPr/>
          <p:nvPr/>
        </p:nvSpPr>
        <p:spPr>
          <a:xfrm>
            <a:off x="3787579" y="9736145"/>
            <a:ext cx="5182682" cy="707886"/>
          </a:xfrm>
          <a:prstGeom prst="rect">
            <a:avLst/>
          </a:prstGeom>
        </p:spPr>
        <p:txBody>
          <a:bodyPr wrap="square">
            <a:spAutoFit/>
          </a:bodyPr>
          <a:lstStyle/>
          <a:p>
            <a:r>
              <a:rPr lang="en-US" sz="4000" b="1" dirty="0">
                <a:solidFill>
                  <a:schemeClr val="tx2"/>
                </a:solidFill>
                <a:latin typeface="Montserrat SemiBold" pitchFamily="2" charset="77"/>
                <a:ea typeface="Roboto" panose="02000000000000000000" pitchFamily="2" charset="0"/>
                <a:cs typeface="Lato Light" panose="020F0502020204030203" pitchFamily="34" charset="0"/>
              </a:rPr>
              <a:t>Power BI</a:t>
            </a:r>
          </a:p>
        </p:txBody>
      </p:sp>
      <p:pic>
        <p:nvPicPr>
          <p:cNvPr id="14" name="Picture 13">
            <a:extLst>
              <a:ext uri="{FF2B5EF4-FFF2-40B4-BE49-F238E27FC236}">
                <a16:creationId xmlns:a16="http://schemas.microsoft.com/office/drawing/2014/main" id="{25538E99-4BB2-6BE0-567F-D21037E3FCD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t="-68" b="17981"/>
          <a:stretch/>
        </p:blipFill>
        <p:spPr>
          <a:xfrm>
            <a:off x="835022" y="8437773"/>
            <a:ext cx="2715004" cy="2779815"/>
          </a:xfrm>
          <a:prstGeom prst="rect">
            <a:avLst/>
          </a:prstGeom>
        </p:spPr>
      </p:pic>
      <p:pic>
        <p:nvPicPr>
          <p:cNvPr id="15" name="Picture 14">
            <a:extLst>
              <a:ext uri="{FF2B5EF4-FFF2-40B4-BE49-F238E27FC236}">
                <a16:creationId xmlns:a16="http://schemas.microsoft.com/office/drawing/2014/main" id="{DE07C2D8-4319-693D-56E6-6EA0870D1F98}"/>
              </a:ext>
            </a:extLst>
          </p:cNvPr>
          <p:cNvPicPr>
            <a:picLocks noChangeAspect="1"/>
          </p:cNvPicPr>
          <p:nvPr/>
        </p:nvPicPr>
        <p:blipFill>
          <a:blip r:embed="rId6" cstate="email">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9025" r="17243" b="37398"/>
          <a:stretch/>
        </p:blipFill>
        <p:spPr>
          <a:xfrm>
            <a:off x="14044799" y="4737536"/>
            <a:ext cx="2324713" cy="2354468"/>
          </a:xfrm>
          <a:prstGeom prst="rect">
            <a:avLst/>
          </a:prstGeom>
        </p:spPr>
      </p:pic>
      <p:sp>
        <p:nvSpPr>
          <p:cNvPr id="17" name="Rectangle 16">
            <a:extLst>
              <a:ext uri="{FF2B5EF4-FFF2-40B4-BE49-F238E27FC236}">
                <a16:creationId xmlns:a16="http://schemas.microsoft.com/office/drawing/2014/main" id="{2D3BAC6A-63E5-1FB3-29C0-1A137DE9E0B6}"/>
              </a:ext>
            </a:extLst>
          </p:cNvPr>
          <p:cNvSpPr/>
          <p:nvPr/>
        </p:nvSpPr>
        <p:spPr>
          <a:xfrm>
            <a:off x="3784053" y="5140079"/>
            <a:ext cx="5182682" cy="707886"/>
          </a:xfrm>
          <a:prstGeom prst="rect">
            <a:avLst/>
          </a:prstGeom>
        </p:spPr>
        <p:txBody>
          <a:bodyPr wrap="square">
            <a:spAutoFit/>
          </a:bodyPr>
          <a:lstStyle/>
          <a:p>
            <a:r>
              <a:rPr lang="en-US" sz="4000" b="1" dirty="0">
                <a:solidFill>
                  <a:schemeClr val="tx2"/>
                </a:solidFill>
                <a:latin typeface="Montserrat SemiBold" pitchFamily="2" charset="77"/>
                <a:ea typeface="Roboto" panose="02000000000000000000" pitchFamily="2" charset="0"/>
                <a:cs typeface="Lato Light" panose="020F0502020204030203" pitchFamily="34" charset="0"/>
              </a:rPr>
              <a:t>Excel</a:t>
            </a:r>
          </a:p>
        </p:txBody>
      </p:sp>
      <p:pic>
        <p:nvPicPr>
          <p:cNvPr id="18" name="Picture 17">
            <a:extLst>
              <a:ext uri="{FF2B5EF4-FFF2-40B4-BE49-F238E27FC236}">
                <a16:creationId xmlns:a16="http://schemas.microsoft.com/office/drawing/2014/main" id="{E866DF3D-0278-EF0C-7222-A416548A8D32}"/>
              </a:ext>
            </a:extLst>
          </p:cNvPr>
          <p:cNvPicPr>
            <a:picLocks noChangeAspect="1"/>
          </p:cNvPicPr>
          <p:nvPr/>
        </p:nvPicPr>
        <p:blipFill>
          <a:blip r:embed="rId8" cstate="email">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014658" y="4708433"/>
            <a:ext cx="2493699" cy="2354468"/>
          </a:xfrm>
          <a:prstGeom prst="rect">
            <a:avLst/>
          </a:prstGeom>
        </p:spPr>
      </p:pic>
      <p:sp>
        <p:nvSpPr>
          <p:cNvPr id="19" name="TextBox 18">
            <a:extLst>
              <a:ext uri="{FF2B5EF4-FFF2-40B4-BE49-F238E27FC236}">
                <a16:creationId xmlns:a16="http://schemas.microsoft.com/office/drawing/2014/main" id="{61CD014A-50BA-A33E-A720-D8E2152C2203}"/>
              </a:ext>
            </a:extLst>
          </p:cNvPr>
          <p:cNvSpPr txBox="1"/>
          <p:nvPr/>
        </p:nvSpPr>
        <p:spPr>
          <a:xfrm>
            <a:off x="888323" y="3388438"/>
            <a:ext cx="12192000" cy="861774"/>
          </a:xfrm>
          <a:prstGeom prst="rect">
            <a:avLst/>
          </a:prstGeom>
          <a:noFill/>
        </p:spPr>
        <p:txBody>
          <a:bodyPr wrap="square">
            <a:spAutoFit/>
          </a:bodyPr>
          <a:lstStyle/>
          <a:p>
            <a:pPr algn="just"/>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Tools Used :</a:t>
            </a:r>
          </a:p>
        </p:txBody>
      </p:sp>
    </p:spTree>
    <p:extLst>
      <p:ext uri="{BB962C8B-B14F-4D97-AF65-F5344CB8AC3E}">
        <p14:creationId xmlns:p14="http://schemas.microsoft.com/office/powerpoint/2010/main" val="704974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01F063-3E64-5B4F-15F2-B264E75D0AD8}"/>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31C4D16E-5BEF-C264-79AC-08460FD17EB2}"/>
              </a:ext>
            </a:extLst>
          </p:cNvPr>
          <p:cNvSpPr txBox="1"/>
          <p:nvPr/>
        </p:nvSpPr>
        <p:spPr>
          <a:xfrm>
            <a:off x="833593" y="727936"/>
            <a:ext cx="9573304"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Dataset overview</a:t>
            </a:r>
          </a:p>
        </p:txBody>
      </p:sp>
      <p:sp>
        <p:nvSpPr>
          <p:cNvPr id="40" name="Rectangle 39">
            <a:extLst>
              <a:ext uri="{FF2B5EF4-FFF2-40B4-BE49-F238E27FC236}">
                <a16:creationId xmlns:a16="http://schemas.microsoft.com/office/drawing/2014/main" id="{A767C2DD-ADFE-7FF3-8544-20975C10158B}"/>
              </a:ext>
            </a:extLst>
          </p:cNvPr>
          <p:cNvSpPr/>
          <p:nvPr/>
        </p:nvSpPr>
        <p:spPr>
          <a:xfrm rot="10800000" flipV="1">
            <a:off x="10406896" y="1389654"/>
            <a:ext cx="13970752" cy="2060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A5FBB4D-B6DE-1DE6-C737-5D2C7098CC93}"/>
              </a:ext>
            </a:extLst>
          </p:cNvPr>
          <p:cNvSpPr txBox="1"/>
          <p:nvPr/>
        </p:nvSpPr>
        <p:spPr>
          <a:xfrm>
            <a:off x="833594" y="2797169"/>
            <a:ext cx="21273372" cy="8556188"/>
          </a:xfrm>
          <a:prstGeom prst="rect">
            <a:avLst/>
          </a:prstGeom>
          <a:noFill/>
          <a:ln>
            <a:noFill/>
          </a:ln>
        </p:spPr>
        <p:txBody>
          <a:bodyPr wrap="square" rtlCol="0">
            <a:spAutoFit/>
          </a:bodyPr>
          <a:lstStyle/>
          <a:p>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Dataset Details</a:t>
            </a:r>
          </a:p>
          <a:p>
            <a:endParaRPr lang="en-US" sz="5000" b="1"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b="1" dirty="0">
                <a:solidFill>
                  <a:schemeClr val="tx2"/>
                </a:solidFill>
                <a:latin typeface="Montserrat Medium" pitchFamily="2" charset="77"/>
                <a:ea typeface="Roboto Medium" panose="02000000000000000000" pitchFamily="2" charset="0"/>
                <a:cs typeface="Lato Light" panose="020F0502020204030203" pitchFamily="34" charset="0"/>
              </a:rPr>
              <a:t>        </a:t>
            </a: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Source: </a:t>
            </a:r>
            <a:r>
              <a:rPr lang="en-US" sz="5000" dirty="0" err="1">
                <a:solidFill>
                  <a:schemeClr val="tx2"/>
                </a:solidFill>
                <a:latin typeface="Montserrat Medium" pitchFamily="2" charset="77"/>
                <a:ea typeface="Roboto Medium" panose="02000000000000000000" pitchFamily="2" charset="0"/>
                <a:cs typeface="Lato Light" panose="020F0502020204030203" pitchFamily="34" charset="0"/>
              </a:rPr>
              <a:t>Olist</a:t>
            </a: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E-commerce public dataset(Brazil)</a:t>
            </a: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Time Period Covered: 2016 – 2018</a:t>
            </a: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No of Tables: 9(Orders, Payments, Reviews,</a:t>
            </a:r>
            <a:r>
              <a:rPr lang="en-US" sz="3200" dirty="0"/>
              <a:t> </a:t>
            </a: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Customers, </a:t>
            </a:r>
            <a:r>
              <a:rPr lang="en-US" sz="5000" dirty="0">
                <a:solidFill>
                  <a:schemeClr val="bg1"/>
                </a:solidFill>
                <a:latin typeface="Montserrat Medium" pitchFamily="2" charset="77"/>
                <a:ea typeface="Roboto Medium" panose="02000000000000000000" pitchFamily="2" charset="0"/>
                <a:cs typeface="Lato Light" panose="020F0502020204030203" pitchFamily="34" charset="0"/>
              </a:rPr>
              <a:t>………</a:t>
            </a: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Sellers, Products, Order Items, Geolocation, Category </a:t>
            </a:r>
            <a:r>
              <a:rPr lang="en-US" sz="5000" dirty="0">
                <a:solidFill>
                  <a:schemeClr val="bg1"/>
                </a:solidFill>
                <a:latin typeface="Montserrat Medium" pitchFamily="2" charset="77"/>
                <a:ea typeface="Roboto Medium" panose="02000000000000000000" pitchFamily="2" charset="0"/>
                <a:cs typeface="Lato Light" panose="020F0502020204030203" pitchFamily="34" charset="0"/>
              </a:rPr>
              <a:t>………</a:t>
            </a: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Translation. </a:t>
            </a:r>
          </a:p>
        </p:txBody>
      </p:sp>
      <p:pic>
        <p:nvPicPr>
          <p:cNvPr id="4" name="Graphic 3" descr="Checkmark">
            <a:extLst>
              <a:ext uri="{FF2B5EF4-FFF2-40B4-BE49-F238E27FC236}">
                <a16:creationId xmlns:a16="http://schemas.microsoft.com/office/drawing/2014/main" id="{C6F037C2-2E17-2F4C-AD18-AD6BC845DB6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4586" y="4416386"/>
            <a:ext cx="998002" cy="998002"/>
          </a:xfrm>
          <a:prstGeom prst="rect">
            <a:avLst/>
          </a:prstGeom>
        </p:spPr>
      </p:pic>
      <p:pic>
        <p:nvPicPr>
          <p:cNvPr id="5" name="Graphic 4" descr="Checkmark">
            <a:extLst>
              <a:ext uri="{FF2B5EF4-FFF2-40B4-BE49-F238E27FC236}">
                <a16:creationId xmlns:a16="http://schemas.microsoft.com/office/drawing/2014/main" id="{E056C2D2-25F8-4BF9-46FC-F1BF16A34F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4586" y="6618063"/>
            <a:ext cx="998002" cy="998002"/>
          </a:xfrm>
          <a:prstGeom prst="rect">
            <a:avLst/>
          </a:prstGeom>
        </p:spPr>
      </p:pic>
      <p:pic>
        <p:nvPicPr>
          <p:cNvPr id="6" name="Graphic 5" descr="Checkmark">
            <a:extLst>
              <a:ext uri="{FF2B5EF4-FFF2-40B4-BE49-F238E27FC236}">
                <a16:creationId xmlns:a16="http://schemas.microsoft.com/office/drawing/2014/main" id="{5287B683-B957-C4F3-4E70-06697DE178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4586" y="8913231"/>
            <a:ext cx="998002" cy="998002"/>
          </a:xfrm>
          <a:prstGeom prst="rect">
            <a:avLst/>
          </a:prstGeom>
        </p:spPr>
      </p:pic>
    </p:spTree>
    <p:extLst>
      <p:ext uri="{BB962C8B-B14F-4D97-AF65-F5344CB8AC3E}">
        <p14:creationId xmlns:p14="http://schemas.microsoft.com/office/powerpoint/2010/main" val="660405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3A28EB-4F81-0DF8-590C-817BB449C0A3}"/>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DEF1A8D1-6915-58A7-D29D-ACB4881534B6}"/>
              </a:ext>
            </a:extLst>
          </p:cNvPr>
          <p:cNvSpPr txBox="1"/>
          <p:nvPr/>
        </p:nvSpPr>
        <p:spPr>
          <a:xfrm>
            <a:off x="833593" y="727936"/>
            <a:ext cx="9573304"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Dataset overview</a:t>
            </a:r>
          </a:p>
        </p:txBody>
      </p:sp>
      <p:sp>
        <p:nvSpPr>
          <p:cNvPr id="40" name="Rectangle 39">
            <a:extLst>
              <a:ext uri="{FF2B5EF4-FFF2-40B4-BE49-F238E27FC236}">
                <a16:creationId xmlns:a16="http://schemas.microsoft.com/office/drawing/2014/main" id="{546C6602-9209-F15B-A9D4-CF5D704E44F9}"/>
              </a:ext>
            </a:extLst>
          </p:cNvPr>
          <p:cNvSpPr/>
          <p:nvPr/>
        </p:nvSpPr>
        <p:spPr>
          <a:xfrm rot="10800000" flipV="1">
            <a:off x="10406896" y="1389654"/>
            <a:ext cx="13970752" cy="2060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8" name="Table 7">
            <a:extLst>
              <a:ext uri="{FF2B5EF4-FFF2-40B4-BE49-F238E27FC236}">
                <a16:creationId xmlns:a16="http://schemas.microsoft.com/office/drawing/2014/main" id="{5C75E9A7-C395-2788-A777-5AEA77CE61AD}"/>
              </a:ext>
            </a:extLst>
          </p:cNvPr>
          <p:cNvGraphicFramePr>
            <a:graphicFrameLocks noGrp="1"/>
          </p:cNvGraphicFramePr>
          <p:nvPr>
            <p:extLst>
              <p:ext uri="{D42A27DB-BD31-4B8C-83A1-F6EECF244321}">
                <p14:modId xmlns:p14="http://schemas.microsoft.com/office/powerpoint/2010/main" val="3274512769"/>
              </p:ext>
            </p:extLst>
          </p:nvPr>
        </p:nvGraphicFramePr>
        <p:xfrm>
          <a:off x="1030815" y="2417264"/>
          <a:ext cx="4132856" cy="7748712"/>
        </p:xfrm>
        <a:graphic>
          <a:graphicData uri="http://schemas.openxmlformats.org/drawingml/2006/table">
            <a:tbl>
              <a:tblPr firstRow="1" bandRow="1">
                <a:tableStyleId>{0E3FDE45-AF77-4B5C-9715-49D594BDF05E}</a:tableStyleId>
              </a:tblPr>
              <a:tblGrid>
                <a:gridCol w="4132856">
                  <a:extLst>
                    <a:ext uri="{9D8B030D-6E8A-4147-A177-3AD203B41FA5}">
                      <a16:colId xmlns:a16="http://schemas.microsoft.com/office/drawing/2014/main" val="1792990719"/>
                    </a:ext>
                  </a:extLst>
                </a:gridCol>
              </a:tblGrid>
              <a:tr h="1291452">
                <a:tc>
                  <a:txBody>
                    <a:bodyPr/>
                    <a:lstStyle/>
                    <a:p>
                      <a:pPr algn="ctr"/>
                      <a:r>
                        <a:rPr lang="en-US" sz="4000" b="1" dirty="0">
                          <a:solidFill>
                            <a:schemeClr val="tx2">
                              <a:lumMod val="60000"/>
                              <a:lumOff val="40000"/>
                            </a:schemeClr>
                          </a:solidFill>
                        </a:rPr>
                        <a:t>TABLES</a:t>
                      </a:r>
                      <a:endParaRPr lang="en-US" sz="4000" b="1" i="0" dirty="0">
                        <a:solidFill>
                          <a:schemeClr val="tx2">
                            <a:lumMod val="60000"/>
                            <a:lumOff val="40000"/>
                          </a:schemeClr>
                        </a:solidFill>
                        <a:latin typeface="Century Gothic" panose="020B0502020202020204" pitchFamily="34" charset="0"/>
                        <a:cs typeface="Poppins Medium" pitchFamily="2" charset="77"/>
                      </a:endParaRPr>
                    </a:p>
                  </a:txBody>
                  <a:tcPr anchor="ctr"/>
                </a:tc>
                <a:extLst>
                  <a:ext uri="{0D108BD9-81ED-4DB2-BD59-A6C34878D82A}">
                    <a16:rowId xmlns:a16="http://schemas.microsoft.com/office/drawing/2014/main" val="223328314"/>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s-MX" b="1" i="0" dirty="0" err="1">
                          <a:solidFill>
                            <a:srgbClr val="000000"/>
                          </a:solidFill>
                          <a:latin typeface="Century Gothic" panose="020B0502020202020204" pitchFamily="34" charset="0"/>
                          <a:cs typeface="Poppins Light" pitchFamily="2" charset="77"/>
                        </a:rPr>
                        <a:t>Orders</a:t>
                      </a:r>
                      <a:endParaRPr lang="es-MX" b="1" i="0" dirty="0">
                        <a:solidFill>
                          <a:srgbClr val="000000"/>
                        </a:solidFill>
                        <a:latin typeface="Century Gothic" panose="020B0502020202020204" pitchFamily="34" charset="0"/>
                        <a:cs typeface="Poppins Light" pitchFamily="2" charset="77"/>
                      </a:endParaRPr>
                    </a:p>
                  </a:txBody>
                  <a:tcPr anchor="ctr"/>
                </a:tc>
                <a:extLst>
                  <a:ext uri="{0D108BD9-81ED-4DB2-BD59-A6C34878D82A}">
                    <a16:rowId xmlns:a16="http://schemas.microsoft.com/office/drawing/2014/main" val="2672504441"/>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sz="3599" b="1" i="0" kern="1200" dirty="0">
                        <a:solidFill>
                          <a:srgbClr val="000000"/>
                        </a:solidFill>
                        <a:latin typeface="Century Gothic" panose="020B0502020202020204" pitchFamily="34" charset="0"/>
                        <a:ea typeface="+mn-ea"/>
                        <a:cs typeface="Poppins Light" pitchFamily="2" charset="77"/>
                      </a:endParaRPr>
                    </a:p>
                  </a:txBody>
                  <a:tcPr anchor="ctr"/>
                </a:tc>
                <a:extLst>
                  <a:ext uri="{0D108BD9-81ED-4DB2-BD59-A6C34878D82A}">
                    <a16:rowId xmlns:a16="http://schemas.microsoft.com/office/drawing/2014/main" val="2224706380"/>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sz="3599" b="1" i="0" kern="1200" dirty="0">
                        <a:solidFill>
                          <a:srgbClr val="000000"/>
                        </a:solidFill>
                        <a:latin typeface="Century Gothic" panose="020B0502020202020204" pitchFamily="34" charset="0"/>
                        <a:ea typeface="+mn-ea"/>
                        <a:cs typeface="Poppins Light" pitchFamily="2" charset="77"/>
                      </a:endParaRPr>
                    </a:p>
                  </a:txBody>
                  <a:tcPr anchor="ctr"/>
                </a:tc>
                <a:extLst>
                  <a:ext uri="{0D108BD9-81ED-4DB2-BD59-A6C34878D82A}">
                    <a16:rowId xmlns:a16="http://schemas.microsoft.com/office/drawing/2014/main" val="3747769703"/>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sz="3599" b="1" i="0" kern="1200" dirty="0">
                        <a:solidFill>
                          <a:srgbClr val="000000"/>
                        </a:solidFill>
                        <a:latin typeface="Century Gothic" panose="020B0502020202020204" pitchFamily="34" charset="0"/>
                        <a:ea typeface="+mn-ea"/>
                        <a:cs typeface="Poppins Light" pitchFamily="2" charset="77"/>
                      </a:endParaRPr>
                    </a:p>
                  </a:txBody>
                  <a:tcPr anchor="ctr"/>
                </a:tc>
                <a:extLst>
                  <a:ext uri="{0D108BD9-81ED-4DB2-BD59-A6C34878D82A}">
                    <a16:rowId xmlns:a16="http://schemas.microsoft.com/office/drawing/2014/main" val="4262161679"/>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sz="3599" b="1" i="0" kern="1200" dirty="0">
                        <a:solidFill>
                          <a:srgbClr val="000000"/>
                        </a:solidFill>
                        <a:latin typeface="Century Gothic" panose="020B0502020202020204" pitchFamily="34" charset="0"/>
                        <a:ea typeface="+mn-ea"/>
                        <a:cs typeface="Poppins Light" pitchFamily="2" charset="77"/>
                      </a:endParaRPr>
                    </a:p>
                  </a:txBody>
                  <a:tcPr anchor="ctr"/>
                </a:tc>
                <a:extLst>
                  <a:ext uri="{0D108BD9-81ED-4DB2-BD59-A6C34878D82A}">
                    <a16:rowId xmlns:a16="http://schemas.microsoft.com/office/drawing/2014/main" val="1397756467"/>
                  </a:ext>
                </a:extLst>
              </a:tr>
            </a:tbl>
          </a:graphicData>
        </a:graphic>
      </p:graphicFrame>
      <p:graphicFrame>
        <p:nvGraphicFramePr>
          <p:cNvPr id="9" name="Table 8">
            <a:extLst>
              <a:ext uri="{FF2B5EF4-FFF2-40B4-BE49-F238E27FC236}">
                <a16:creationId xmlns:a16="http://schemas.microsoft.com/office/drawing/2014/main" id="{50C0B58E-8B64-2B11-28D3-3E88322E6CC9}"/>
              </a:ext>
            </a:extLst>
          </p:cNvPr>
          <p:cNvGraphicFramePr>
            <a:graphicFrameLocks noGrp="1"/>
          </p:cNvGraphicFramePr>
          <p:nvPr>
            <p:extLst>
              <p:ext uri="{D42A27DB-BD31-4B8C-83A1-F6EECF244321}">
                <p14:modId xmlns:p14="http://schemas.microsoft.com/office/powerpoint/2010/main" val="2217018605"/>
              </p:ext>
            </p:extLst>
          </p:nvPr>
        </p:nvGraphicFramePr>
        <p:xfrm>
          <a:off x="14518661" y="2417264"/>
          <a:ext cx="8054468" cy="7748712"/>
        </p:xfrm>
        <a:graphic>
          <a:graphicData uri="http://schemas.openxmlformats.org/drawingml/2006/table">
            <a:tbl>
              <a:tblPr firstRow="1" bandRow="1">
                <a:tableStyleId>{0E3FDE45-AF77-4B5C-9715-49D594BDF05E}</a:tableStyleId>
              </a:tblPr>
              <a:tblGrid>
                <a:gridCol w="8054468">
                  <a:extLst>
                    <a:ext uri="{9D8B030D-6E8A-4147-A177-3AD203B41FA5}">
                      <a16:colId xmlns:a16="http://schemas.microsoft.com/office/drawing/2014/main" val="1792990719"/>
                    </a:ext>
                  </a:extLst>
                </a:gridCol>
              </a:tblGrid>
              <a:tr h="1291452">
                <a:tc>
                  <a:txBody>
                    <a:bodyPr/>
                    <a:lstStyle/>
                    <a:p>
                      <a:pPr marL="0" algn="ctr" defTabSz="1828343" rtl="0" eaLnBrk="1" latinLnBrk="0" hangingPunct="1"/>
                      <a:r>
                        <a:rPr lang="en-US" sz="4000" b="1" kern="1200" dirty="0">
                          <a:solidFill>
                            <a:schemeClr val="tx2">
                              <a:lumMod val="60000"/>
                              <a:lumOff val="40000"/>
                            </a:schemeClr>
                          </a:solidFill>
                          <a:latin typeface="+mn-lt"/>
                          <a:ea typeface="+mn-ea"/>
                          <a:cs typeface="+mn-cs"/>
                        </a:rPr>
                        <a:t>DESCRIPTION</a:t>
                      </a:r>
                    </a:p>
                  </a:txBody>
                  <a:tcPr anchor="ctr"/>
                </a:tc>
                <a:extLst>
                  <a:ext uri="{0D108BD9-81ED-4DB2-BD59-A6C34878D82A}">
                    <a16:rowId xmlns:a16="http://schemas.microsoft.com/office/drawing/2014/main" val="223328314"/>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3600" b="1" kern="1200" dirty="0">
                          <a:solidFill>
                            <a:srgbClr val="000000"/>
                          </a:solidFill>
                          <a:latin typeface="+mn-lt"/>
                          <a:ea typeface="+mn-ea"/>
                          <a:cs typeface="+mn-cs"/>
                        </a:rPr>
                        <a:t>Tracks orders placed and delivered dates</a:t>
                      </a:r>
                      <a:endParaRPr lang="es-MX" sz="3600" b="1" kern="1200" dirty="0">
                        <a:solidFill>
                          <a:srgbClr val="000000"/>
                        </a:solidFill>
                        <a:latin typeface="+mn-lt"/>
                        <a:ea typeface="+mn-ea"/>
                        <a:cs typeface="+mn-cs"/>
                      </a:endParaRPr>
                    </a:p>
                  </a:txBody>
                  <a:tcPr anchor="ctr"/>
                </a:tc>
                <a:extLst>
                  <a:ext uri="{0D108BD9-81ED-4DB2-BD59-A6C34878D82A}">
                    <a16:rowId xmlns:a16="http://schemas.microsoft.com/office/drawing/2014/main" val="2672504441"/>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b="0" i="0" dirty="0">
                        <a:solidFill>
                          <a:schemeClr val="bg1"/>
                        </a:solidFill>
                        <a:latin typeface="Century Gothic" panose="020B0502020202020204" pitchFamily="34" charset="0"/>
                        <a:cs typeface="Poppins Light" pitchFamily="2" charset="77"/>
                      </a:endParaRPr>
                    </a:p>
                  </a:txBody>
                  <a:tcPr anchor="ctr"/>
                </a:tc>
                <a:extLst>
                  <a:ext uri="{0D108BD9-81ED-4DB2-BD59-A6C34878D82A}">
                    <a16:rowId xmlns:a16="http://schemas.microsoft.com/office/drawing/2014/main" val="2224706380"/>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b="0" i="0" dirty="0">
                        <a:solidFill>
                          <a:schemeClr val="bg1"/>
                        </a:solidFill>
                        <a:latin typeface="Century Gothic" panose="020B0502020202020204" pitchFamily="34" charset="0"/>
                        <a:cs typeface="Poppins Light" pitchFamily="2" charset="77"/>
                      </a:endParaRPr>
                    </a:p>
                  </a:txBody>
                  <a:tcPr anchor="ctr"/>
                </a:tc>
                <a:extLst>
                  <a:ext uri="{0D108BD9-81ED-4DB2-BD59-A6C34878D82A}">
                    <a16:rowId xmlns:a16="http://schemas.microsoft.com/office/drawing/2014/main" val="3747769703"/>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b="0" i="0" dirty="0">
                        <a:solidFill>
                          <a:schemeClr val="bg1"/>
                        </a:solidFill>
                        <a:latin typeface="Century Gothic" panose="020B0502020202020204" pitchFamily="34" charset="0"/>
                        <a:cs typeface="Poppins Light" pitchFamily="2" charset="77"/>
                      </a:endParaRPr>
                    </a:p>
                  </a:txBody>
                  <a:tcPr anchor="ctr"/>
                </a:tc>
                <a:extLst>
                  <a:ext uri="{0D108BD9-81ED-4DB2-BD59-A6C34878D82A}">
                    <a16:rowId xmlns:a16="http://schemas.microsoft.com/office/drawing/2014/main" val="4262161679"/>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b="0" i="0" dirty="0">
                        <a:solidFill>
                          <a:schemeClr val="bg1"/>
                        </a:solidFill>
                        <a:latin typeface="Century Gothic" panose="020B0502020202020204" pitchFamily="34" charset="0"/>
                        <a:cs typeface="Poppins Light" pitchFamily="2" charset="77"/>
                      </a:endParaRPr>
                    </a:p>
                  </a:txBody>
                  <a:tcPr anchor="ctr"/>
                </a:tc>
                <a:extLst>
                  <a:ext uri="{0D108BD9-81ED-4DB2-BD59-A6C34878D82A}">
                    <a16:rowId xmlns:a16="http://schemas.microsoft.com/office/drawing/2014/main" val="1397756467"/>
                  </a:ext>
                </a:extLst>
              </a:tr>
            </a:tbl>
          </a:graphicData>
        </a:graphic>
      </p:graphicFrame>
      <p:graphicFrame>
        <p:nvGraphicFramePr>
          <p:cNvPr id="10" name="Table 9">
            <a:extLst>
              <a:ext uri="{FF2B5EF4-FFF2-40B4-BE49-F238E27FC236}">
                <a16:creationId xmlns:a16="http://schemas.microsoft.com/office/drawing/2014/main" id="{F0306207-8E9E-6766-37C9-48CFCC961ED0}"/>
              </a:ext>
            </a:extLst>
          </p:cNvPr>
          <p:cNvGraphicFramePr>
            <a:graphicFrameLocks noGrp="1"/>
          </p:cNvGraphicFramePr>
          <p:nvPr>
            <p:extLst>
              <p:ext uri="{D42A27DB-BD31-4B8C-83A1-F6EECF244321}">
                <p14:modId xmlns:p14="http://schemas.microsoft.com/office/powerpoint/2010/main" val="2629476070"/>
              </p:ext>
            </p:extLst>
          </p:nvPr>
        </p:nvGraphicFramePr>
        <p:xfrm>
          <a:off x="5683624" y="2417264"/>
          <a:ext cx="8480611" cy="7748712"/>
        </p:xfrm>
        <a:graphic>
          <a:graphicData uri="http://schemas.openxmlformats.org/drawingml/2006/table">
            <a:tbl>
              <a:tblPr firstRow="1" bandRow="1">
                <a:tableStyleId>{D27102A9-8310-4765-A935-A1911B00CA55}</a:tableStyleId>
              </a:tblPr>
              <a:tblGrid>
                <a:gridCol w="8480611">
                  <a:extLst>
                    <a:ext uri="{9D8B030D-6E8A-4147-A177-3AD203B41FA5}">
                      <a16:colId xmlns:a16="http://schemas.microsoft.com/office/drawing/2014/main" val="1792990719"/>
                    </a:ext>
                  </a:extLst>
                </a:gridCol>
              </a:tblGrid>
              <a:tr h="1291452">
                <a:tc>
                  <a:txBody>
                    <a:bodyPr/>
                    <a:lstStyle/>
                    <a:p>
                      <a:pPr algn="ctr"/>
                      <a:r>
                        <a:rPr lang="en-US" sz="4000" b="1" kern="1200" dirty="0">
                          <a:solidFill>
                            <a:schemeClr val="tx2">
                              <a:lumMod val="60000"/>
                              <a:lumOff val="40000"/>
                            </a:schemeClr>
                          </a:solidFill>
                          <a:latin typeface="+mn-lt"/>
                          <a:ea typeface="+mn-ea"/>
                          <a:cs typeface="+mn-cs"/>
                        </a:rPr>
                        <a:t>IMPORTANT COLUMNS</a:t>
                      </a:r>
                    </a:p>
                  </a:txBody>
                  <a:tcPr anchor="ctr"/>
                </a:tc>
                <a:extLst>
                  <a:ext uri="{0D108BD9-81ED-4DB2-BD59-A6C34878D82A}">
                    <a16:rowId xmlns:a16="http://schemas.microsoft.com/office/drawing/2014/main" val="223328314"/>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3600" b="1" dirty="0" err="1">
                          <a:solidFill>
                            <a:srgbClr val="000000"/>
                          </a:solidFill>
                        </a:rPr>
                        <a:t>order_id</a:t>
                      </a:r>
                      <a:r>
                        <a:rPr lang="en-US" sz="3600" b="1" dirty="0">
                          <a:solidFill>
                            <a:srgbClr val="000000"/>
                          </a:solidFill>
                        </a:rPr>
                        <a:t>, </a:t>
                      </a:r>
                      <a:r>
                        <a:rPr lang="en-US" sz="3600" b="1" dirty="0" err="1">
                          <a:solidFill>
                            <a:srgbClr val="000000"/>
                          </a:solidFill>
                        </a:rPr>
                        <a:t>order_purchase_timestamp</a:t>
                      </a:r>
                      <a:r>
                        <a:rPr lang="en-US" sz="3600" b="1" dirty="0">
                          <a:solidFill>
                            <a:srgbClr val="000000"/>
                          </a:solidFill>
                        </a:rPr>
                        <a:t>, </a:t>
                      </a:r>
                      <a:r>
                        <a:rPr lang="en-US" sz="3600" b="1" dirty="0" err="1">
                          <a:solidFill>
                            <a:srgbClr val="000000"/>
                          </a:solidFill>
                        </a:rPr>
                        <a:t>order_delivered_customer_date</a:t>
                      </a:r>
                      <a:endParaRPr lang="es-MX" sz="3600" b="1" i="0" kern="1200" dirty="0">
                        <a:solidFill>
                          <a:srgbClr val="000000"/>
                        </a:solidFill>
                        <a:latin typeface="Century Gothic" panose="020B0502020202020204" pitchFamily="34" charset="0"/>
                        <a:ea typeface="+mn-ea"/>
                        <a:cs typeface="Poppins Medium" pitchFamily="2" charset="77"/>
                      </a:endParaRPr>
                    </a:p>
                  </a:txBody>
                  <a:tcPr anchor="ctr"/>
                </a:tc>
                <a:extLst>
                  <a:ext uri="{0D108BD9-81ED-4DB2-BD59-A6C34878D82A}">
                    <a16:rowId xmlns:a16="http://schemas.microsoft.com/office/drawing/2014/main" val="2672504441"/>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b="0" i="0" dirty="0">
                        <a:solidFill>
                          <a:schemeClr val="bg1"/>
                        </a:solidFill>
                        <a:latin typeface="Century Gothic" panose="020B0502020202020204" pitchFamily="34" charset="0"/>
                        <a:cs typeface="Poppins Light" pitchFamily="2" charset="77"/>
                      </a:endParaRPr>
                    </a:p>
                  </a:txBody>
                  <a:tcPr anchor="ctr"/>
                </a:tc>
                <a:extLst>
                  <a:ext uri="{0D108BD9-81ED-4DB2-BD59-A6C34878D82A}">
                    <a16:rowId xmlns:a16="http://schemas.microsoft.com/office/drawing/2014/main" val="2224706380"/>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b="0" i="0" dirty="0">
                        <a:solidFill>
                          <a:schemeClr val="bg1"/>
                        </a:solidFill>
                        <a:latin typeface="Century Gothic" panose="020B0502020202020204" pitchFamily="34" charset="0"/>
                        <a:cs typeface="Poppins Light" pitchFamily="2" charset="77"/>
                      </a:endParaRPr>
                    </a:p>
                  </a:txBody>
                  <a:tcPr anchor="ctr"/>
                </a:tc>
                <a:extLst>
                  <a:ext uri="{0D108BD9-81ED-4DB2-BD59-A6C34878D82A}">
                    <a16:rowId xmlns:a16="http://schemas.microsoft.com/office/drawing/2014/main" val="3747769703"/>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b="0" i="0" dirty="0">
                        <a:solidFill>
                          <a:schemeClr val="bg1"/>
                        </a:solidFill>
                        <a:latin typeface="Century Gothic" panose="020B0502020202020204" pitchFamily="34" charset="0"/>
                        <a:cs typeface="Poppins Light" pitchFamily="2" charset="77"/>
                      </a:endParaRPr>
                    </a:p>
                  </a:txBody>
                  <a:tcPr anchor="ctr"/>
                </a:tc>
                <a:extLst>
                  <a:ext uri="{0D108BD9-81ED-4DB2-BD59-A6C34878D82A}">
                    <a16:rowId xmlns:a16="http://schemas.microsoft.com/office/drawing/2014/main" val="4262161679"/>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endParaRPr lang="es-MX" b="0" i="0" dirty="0">
                        <a:solidFill>
                          <a:schemeClr val="bg1"/>
                        </a:solidFill>
                        <a:latin typeface="Century Gothic" panose="020B0502020202020204" pitchFamily="34" charset="0"/>
                        <a:cs typeface="Poppins Light" pitchFamily="2" charset="77"/>
                      </a:endParaRPr>
                    </a:p>
                  </a:txBody>
                  <a:tcPr anchor="ctr"/>
                </a:tc>
                <a:extLst>
                  <a:ext uri="{0D108BD9-81ED-4DB2-BD59-A6C34878D82A}">
                    <a16:rowId xmlns:a16="http://schemas.microsoft.com/office/drawing/2014/main" val="1397756467"/>
                  </a:ext>
                </a:extLst>
              </a:tr>
            </a:tbl>
          </a:graphicData>
        </a:graphic>
      </p:graphicFrame>
      <p:graphicFrame>
        <p:nvGraphicFramePr>
          <p:cNvPr id="11" name="Table 10">
            <a:extLst>
              <a:ext uri="{FF2B5EF4-FFF2-40B4-BE49-F238E27FC236}">
                <a16:creationId xmlns:a16="http://schemas.microsoft.com/office/drawing/2014/main" id="{580E36BD-C6C9-0ADC-543A-EFABC3642BCD}"/>
              </a:ext>
            </a:extLst>
          </p:cNvPr>
          <p:cNvGraphicFramePr>
            <a:graphicFrameLocks noGrp="1"/>
          </p:cNvGraphicFramePr>
          <p:nvPr>
            <p:extLst>
              <p:ext uri="{D42A27DB-BD31-4B8C-83A1-F6EECF244321}">
                <p14:modId xmlns:p14="http://schemas.microsoft.com/office/powerpoint/2010/main" val="658239493"/>
              </p:ext>
            </p:extLst>
          </p:nvPr>
        </p:nvGraphicFramePr>
        <p:xfrm>
          <a:off x="1030815" y="5025993"/>
          <a:ext cx="4132856" cy="7748712"/>
        </p:xfrm>
        <a:graphic>
          <a:graphicData uri="http://schemas.openxmlformats.org/drawingml/2006/table">
            <a:tbl>
              <a:tblPr firstRow="1" bandRow="1">
                <a:tableStyleId>{0E3FDE45-AF77-4B5C-9715-49D594BDF05E}</a:tableStyleId>
              </a:tblPr>
              <a:tblGrid>
                <a:gridCol w="4132856">
                  <a:extLst>
                    <a:ext uri="{9D8B030D-6E8A-4147-A177-3AD203B41FA5}">
                      <a16:colId xmlns:a16="http://schemas.microsoft.com/office/drawing/2014/main" val="1792990719"/>
                    </a:ext>
                  </a:extLst>
                </a:gridCol>
              </a:tblGrid>
              <a:tr h="1291452">
                <a:tc>
                  <a:txBody>
                    <a:bodyPr/>
                    <a:lstStyle/>
                    <a:p>
                      <a:pPr algn="ctr"/>
                      <a:r>
                        <a:rPr lang="en-US" sz="3599" b="1" i="0" kern="1200" dirty="0">
                          <a:solidFill>
                            <a:srgbClr val="000000"/>
                          </a:solidFill>
                          <a:latin typeface="Century Gothic" panose="020B0502020202020204" pitchFamily="34" charset="0"/>
                          <a:ea typeface="+mn-ea"/>
                          <a:cs typeface="Poppins Light" pitchFamily="2" charset="77"/>
                        </a:rPr>
                        <a:t>Payments</a:t>
                      </a:r>
                    </a:p>
                  </a:txBody>
                  <a:tcPr anchor="ctr"/>
                </a:tc>
                <a:extLst>
                  <a:ext uri="{0D108BD9-81ED-4DB2-BD59-A6C34878D82A}">
                    <a16:rowId xmlns:a16="http://schemas.microsoft.com/office/drawing/2014/main" val="223328314"/>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s-MX" b="1" i="0" dirty="0" err="1">
                          <a:solidFill>
                            <a:srgbClr val="000000"/>
                          </a:solidFill>
                          <a:latin typeface="Century Gothic" panose="020B0502020202020204" pitchFamily="34" charset="0"/>
                          <a:cs typeface="Poppins Light" pitchFamily="2" charset="77"/>
                        </a:rPr>
                        <a:t>Customers</a:t>
                      </a:r>
                      <a:endParaRPr lang="es-MX" b="1" i="0" dirty="0">
                        <a:solidFill>
                          <a:srgbClr val="000000"/>
                        </a:solidFill>
                        <a:latin typeface="Century Gothic" panose="020B0502020202020204" pitchFamily="34" charset="0"/>
                        <a:cs typeface="Poppins Light" pitchFamily="2" charset="77"/>
                      </a:endParaRPr>
                    </a:p>
                  </a:txBody>
                  <a:tcPr anchor="ctr"/>
                </a:tc>
                <a:extLst>
                  <a:ext uri="{0D108BD9-81ED-4DB2-BD59-A6C34878D82A}">
                    <a16:rowId xmlns:a16="http://schemas.microsoft.com/office/drawing/2014/main" val="2672504441"/>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s-MX" sz="3599" b="1" i="0" kern="1200" dirty="0" err="1">
                          <a:solidFill>
                            <a:srgbClr val="000000"/>
                          </a:solidFill>
                          <a:latin typeface="Century Gothic" panose="020B0502020202020204" pitchFamily="34" charset="0"/>
                          <a:ea typeface="+mn-ea"/>
                          <a:cs typeface="Poppins Light" pitchFamily="2" charset="77"/>
                        </a:rPr>
                        <a:t>Reviews</a:t>
                      </a:r>
                      <a:endParaRPr lang="es-MX" sz="3599" b="1" i="0" kern="1200" dirty="0">
                        <a:solidFill>
                          <a:srgbClr val="000000"/>
                        </a:solidFill>
                        <a:latin typeface="Century Gothic" panose="020B0502020202020204" pitchFamily="34" charset="0"/>
                        <a:ea typeface="+mn-ea"/>
                        <a:cs typeface="Poppins Light" pitchFamily="2" charset="77"/>
                      </a:endParaRPr>
                    </a:p>
                  </a:txBody>
                  <a:tcPr anchor="ctr"/>
                </a:tc>
                <a:extLst>
                  <a:ext uri="{0D108BD9-81ED-4DB2-BD59-A6C34878D82A}">
                    <a16:rowId xmlns:a16="http://schemas.microsoft.com/office/drawing/2014/main" val="2224706380"/>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s-MX" sz="3599" b="1" i="0" kern="1200" dirty="0">
                          <a:solidFill>
                            <a:srgbClr val="000000"/>
                          </a:solidFill>
                          <a:latin typeface="Century Gothic" panose="020B0502020202020204" pitchFamily="34" charset="0"/>
                          <a:ea typeface="+mn-ea"/>
                          <a:cs typeface="Poppins Light" pitchFamily="2" charset="77"/>
                        </a:rPr>
                        <a:t>Sellers</a:t>
                      </a:r>
                    </a:p>
                  </a:txBody>
                  <a:tcPr anchor="ctr"/>
                </a:tc>
                <a:extLst>
                  <a:ext uri="{0D108BD9-81ED-4DB2-BD59-A6C34878D82A}">
                    <a16:rowId xmlns:a16="http://schemas.microsoft.com/office/drawing/2014/main" val="3747769703"/>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s-MX" sz="3599" b="1" i="0" kern="1200" dirty="0" err="1">
                          <a:solidFill>
                            <a:srgbClr val="000000"/>
                          </a:solidFill>
                          <a:latin typeface="Century Gothic" panose="020B0502020202020204" pitchFamily="34" charset="0"/>
                          <a:ea typeface="+mn-ea"/>
                          <a:cs typeface="Poppins Light" pitchFamily="2" charset="77"/>
                        </a:rPr>
                        <a:t>Products</a:t>
                      </a:r>
                      <a:endParaRPr lang="es-MX" sz="3599" b="1" i="0" kern="1200" dirty="0">
                        <a:solidFill>
                          <a:srgbClr val="000000"/>
                        </a:solidFill>
                        <a:latin typeface="Century Gothic" panose="020B0502020202020204" pitchFamily="34" charset="0"/>
                        <a:ea typeface="+mn-ea"/>
                        <a:cs typeface="Poppins Light" pitchFamily="2" charset="77"/>
                      </a:endParaRPr>
                    </a:p>
                  </a:txBody>
                  <a:tcPr anchor="ctr"/>
                </a:tc>
                <a:extLst>
                  <a:ext uri="{0D108BD9-81ED-4DB2-BD59-A6C34878D82A}">
                    <a16:rowId xmlns:a16="http://schemas.microsoft.com/office/drawing/2014/main" val="4262161679"/>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s-MX" sz="3599" b="1" i="0" kern="1200" dirty="0" err="1">
                          <a:solidFill>
                            <a:srgbClr val="000000"/>
                          </a:solidFill>
                          <a:latin typeface="Century Gothic" panose="020B0502020202020204" pitchFamily="34" charset="0"/>
                          <a:ea typeface="+mn-ea"/>
                          <a:cs typeface="Poppins Light" pitchFamily="2" charset="77"/>
                        </a:rPr>
                        <a:t>Order</a:t>
                      </a:r>
                      <a:r>
                        <a:rPr lang="es-MX" sz="3599" b="1" i="0" kern="1200" dirty="0">
                          <a:solidFill>
                            <a:srgbClr val="000000"/>
                          </a:solidFill>
                          <a:latin typeface="Century Gothic" panose="020B0502020202020204" pitchFamily="34" charset="0"/>
                          <a:ea typeface="+mn-ea"/>
                          <a:cs typeface="Poppins Light" pitchFamily="2" charset="77"/>
                        </a:rPr>
                        <a:t> </a:t>
                      </a:r>
                      <a:r>
                        <a:rPr lang="es-MX" sz="3599" b="1" i="0" kern="1200" dirty="0" err="1">
                          <a:solidFill>
                            <a:srgbClr val="000000"/>
                          </a:solidFill>
                          <a:latin typeface="Century Gothic" panose="020B0502020202020204" pitchFamily="34" charset="0"/>
                          <a:ea typeface="+mn-ea"/>
                          <a:cs typeface="Poppins Light" pitchFamily="2" charset="77"/>
                        </a:rPr>
                        <a:t>Items</a:t>
                      </a:r>
                      <a:endParaRPr lang="es-MX" sz="3599" b="1" i="0" kern="1200" dirty="0">
                        <a:solidFill>
                          <a:srgbClr val="000000"/>
                        </a:solidFill>
                        <a:latin typeface="Century Gothic" panose="020B0502020202020204" pitchFamily="34" charset="0"/>
                        <a:ea typeface="+mn-ea"/>
                        <a:cs typeface="Poppins Light" pitchFamily="2" charset="77"/>
                      </a:endParaRPr>
                    </a:p>
                  </a:txBody>
                  <a:tcPr anchor="ctr"/>
                </a:tc>
                <a:extLst>
                  <a:ext uri="{0D108BD9-81ED-4DB2-BD59-A6C34878D82A}">
                    <a16:rowId xmlns:a16="http://schemas.microsoft.com/office/drawing/2014/main" val="1397756467"/>
                  </a:ext>
                </a:extLst>
              </a:tr>
            </a:tbl>
          </a:graphicData>
        </a:graphic>
      </p:graphicFrame>
      <p:graphicFrame>
        <p:nvGraphicFramePr>
          <p:cNvPr id="12" name="Table 11">
            <a:extLst>
              <a:ext uri="{FF2B5EF4-FFF2-40B4-BE49-F238E27FC236}">
                <a16:creationId xmlns:a16="http://schemas.microsoft.com/office/drawing/2014/main" id="{538AC962-861B-197D-1EB1-BAC367B50F24}"/>
              </a:ext>
            </a:extLst>
          </p:cNvPr>
          <p:cNvGraphicFramePr>
            <a:graphicFrameLocks noGrp="1"/>
          </p:cNvGraphicFramePr>
          <p:nvPr>
            <p:extLst>
              <p:ext uri="{D42A27DB-BD31-4B8C-83A1-F6EECF244321}">
                <p14:modId xmlns:p14="http://schemas.microsoft.com/office/powerpoint/2010/main" val="405334530"/>
              </p:ext>
            </p:extLst>
          </p:nvPr>
        </p:nvGraphicFramePr>
        <p:xfrm>
          <a:off x="14518661" y="5025993"/>
          <a:ext cx="8054468" cy="7706561"/>
        </p:xfrm>
        <a:graphic>
          <a:graphicData uri="http://schemas.openxmlformats.org/drawingml/2006/table">
            <a:tbl>
              <a:tblPr firstRow="1" bandRow="1">
                <a:tableStyleId>{0E3FDE45-AF77-4B5C-9715-49D594BDF05E}</a:tableStyleId>
              </a:tblPr>
              <a:tblGrid>
                <a:gridCol w="8054468">
                  <a:extLst>
                    <a:ext uri="{9D8B030D-6E8A-4147-A177-3AD203B41FA5}">
                      <a16:colId xmlns:a16="http://schemas.microsoft.com/office/drawing/2014/main" val="1792990719"/>
                    </a:ext>
                  </a:extLst>
                </a:gridCol>
              </a:tblGrid>
              <a:tr h="1249301">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3600" b="1" kern="1200" dirty="0">
                          <a:solidFill>
                            <a:srgbClr val="000000"/>
                          </a:solidFill>
                          <a:latin typeface="+mn-lt"/>
                          <a:ea typeface="+mn-ea"/>
                          <a:cs typeface="+mn-cs"/>
                        </a:rPr>
                        <a:t>Records payment methods and amounts</a:t>
                      </a:r>
                    </a:p>
                  </a:txBody>
                  <a:tcPr anchor="ctr"/>
                </a:tc>
                <a:extLst>
                  <a:ext uri="{0D108BD9-81ED-4DB2-BD59-A6C34878D82A}">
                    <a16:rowId xmlns:a16="http://schemas.microsoft.com/office/drawing/2014/main" val="223328314"/>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IN" sz="3600" b="1" kern="1200" dirty="0">
                          <a:solidFill>
                            <a:srgbClr val="000000"/>
                          </a:solidFill>
                          <a:latin typeface="+mn-lt"/>
                          <a:ea typeface="+mn-ea"/>
                          <a:cs typeface="+mn-cs"/>
                        </a:rPr>
                        <a:t>Contains customer location details</a:t>
                      </a:r>
                      <a:endParaRPr lang="es-MX" sz="3600" b="1" kern="1200" dirty="0">
                        <a:solidFill>
                          <a:srgbClr val="000000"/>
                        </a:solidFill>
                        <a:latin typeface="+mn-lt"/>
                        <a:ea typeface="+mn-ea"/>
                        <a:cs typeface="+mn-cs"/>
                      </a:endParaRPr>
                    </a:p>
                  </a:txBody>
                  <a:tcPr anchor="ctr"/>
                </a:tc>
                <a:extLst>
                  <a:ext uri="{0D108BD9-81ED-4DB2-BD59-A6C34878D82A}">
                    <a16:rowId xmlns:a16="http://schemas.microsoft.com/office/drawing/2014/main" val="2672504441"/>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3600" b="1" kern="1200" dirty="0">
                          <a:solidFill>
                            <a:srgbClr val="000000"/>
                          </a:solidFill>
                          <a:latin typeface="+mn-lt"/>
                          <a:ea typeface="+mn-ea"/>
                          <a:cs typeface="+mn-cs"/>
                        </a:rPr>
                        <a:t>Captures customer feedback and ratings</a:t>
                      </a:r>
                      <a:endParaRPr lang="es-MX" sz="3600" b="1" kern="1200" dirty="0">
                        <a:solidFill>
                          <a:srgbClr val="000000"/>
                        </a:solidFill>
                        <a:latin typeface="+mn-lt"/>
                        <a:ea typeface="+mn-ea"/>
                        <a:cs typeface="+mn-cs"/>
                      </a:endParaRPr>
                    </a:p>
                  </a:txBody>
                  <a:tcPr anchor="ctr"/>
                </a:tc>
                <a:extLst>
                  <a:ext uri="{0D108BD9-81ED-4DB2-BD59-A6C34878D82A}">
                    <a16:rowId xmlns:a16="http://schemas.microsoft.com/office/drawing/2014/main" val="2224706380"/>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IN" sz="3600" b="1" kern="1200" dirty="0">
                          <a:solidFill>
                            <a:srgbClr val="000000"/>
                          </a:solidFill>
                          <a:latin typeface="+mn-lt"/>
                          <a:ea typeface="+mn-ea"/>
                          <a:cs typeface="+mn-cs"/>
                        </a:rPr>
                        <a:t>Stores seller details</a:t>
                      </a:r>
                      <a:endParaRPr lang="es-MX" sz="3600" b="1" kern="1200" dirty="0">
                        <a:solidFill>
                          <a:srgbClr val="000000"/>
                        </a:solidFill>
                        <a:latin typeface="+mn-lt"/>
                        <a:ea typeface="+mn-ea"/>
                        <a:cs typeface="+mn-cs"/>
                      </a:endParaRPr>
                    </a:p>
                  </a:txBody>
                  <a:tcPr anchor="ctr"/>
                </a:tc>
                <a:extLst>
                  <a:ext uri="{0D108BD9-81ED-4DB2-BD59-A6C34878D82A}">
                    <a16:rowId xmlns:a16="http://schemas.microsoft.com/office/drawing/2014/main" val="3747769703"/>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3600" b="1" kern="1200" dirty="0">
                          <a:solidFill>
                            <a:srgbClr val="000000"/>
                          </a:solidFill>
                          <a:latin typeface="+mn-lt"/>
                          <a:ea typeface="+mn-ea"/>
                          <a:cs typeface="+mn-cs"/>
                        </a:rPr>
                        <a:t>Lists products and their categories</a:t>
                      </a:r>
                      <a:endParaRPr lang="es-MX" sz="3600" b="1" kern="1200" dirty="0">
                        <a:solidFill>
                          <a:srgbClr val="000000"/>
                        </a:solidFill>
                        <a:latin typeface="+mn-lt"/>
                        <a:ea typeface="+mn-ea"/>
                        <a:cs typeface="+mn-cs"/>
                      </a:endParaRPr>
                    </a:p>
                  </a:txBody>
                  <a:tcPr anchor="ctr"/>
                </a:tc>
                <a:extLst>
                  <a:ext uri="{0D108BD9-81ED-4DB2-BD59-A6C34878D82A}">
                    <a16:rowId xmlns:a16="http://schemas.microsoft.com/office/drawing/2014/main" val="4262161679"/>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IN" sz="3600" b="1" kern="1200" dirty="0">
                          <a:solidFill>
                            <a:srgbClr val="000000"/>
                          </a:solidFill>
                          <a:latin typeface="+mn-lt"/>
                          <a:ea typeface="+mn-ea"/>
                          <a:cs typeface="+mn-cs"/>
                        </a:rPr>
                        <a:t>Links orders with products</a:t>
                      </a:r>
                      <a:endParaRPr lang="es-MX" sz="3600" b="1" kern="1200" dirty="0">
                        <a:solidFill>
                          <a:srgbClr val="000000"/>
                        </a:solidFill>
                        <a:latin typeface="+mn-lt"/>
                        <a:ea typeface="+mn-ea"/>
                        <a:cs typeface="+mn-cs"/>
                      </a:endParaRPr>
                    </a:p>
                  </a:txBody>
                  <a:tcPr anchor="ctr"/>
                </a:tc>
                <a:extLst>
                  <a:ext uri="{0D108BD9-81ED-4DB2-BD59-A6C34878D82A}">
                    <a16:rowId xmlns:a16="http://schemas.microsoft.com/office/drawing/2014/main" val="1397756467"/>
                  </a:ext>
                </a:extLst>
              </a:tr>
            </a:tbl>
          </a:graphicData>
        </a:graphic>
      </p:graphicFrame>
      <p:graphicFrame>
        <p:nvGraphicFramePr>
          <p:cNvPr id="13" name="Table 12">
            <a:extLst>
              <a:ext uri="{FF2B5EF4-FFF2-40B4-BE49-F238E27FC236}">
                <a16:creationId xmlns:a16="http://schemas.microsoft.com/office/drawing/2014/main" id="{24254008-30BB-7CE5-8582-C6931D90B3CC}"/>
              </a:ext>
            </a:extLst>
          </p:cNvPr>
          <p:cNvGraphicFramePr>
            <a:graphicFrameLocks noGrp="1"/>
          </p:cNvGraphicFramePr>
          <p:nvPr>
            <p:extLst>
              <p:ext uri="{D42A27DB-BD31-4B8C-83A1-F6EECF244321}">
                <p14:modId xmlns:p14="http://schemas.microsoft.com/office/powerpoint/2010/main" val="1825564431"/>
              </p:ext>
            </p:extLst>
          </p:nvPr>
        </p:nvGraphicFramePr>
        <p:xfrm>
          <a:off x="5683624" y="5025993"/>
          <a:ext cx="8480611" cy="7748712"/>
        </p:xfrm>
        <a:graphic>
          <a:graphicData uri="http://schemas.openxmlformats.org/drawingml/2006/table">
            <a:tbl>
              <a:tblPr firstRow="1" bandRow="1">
                <a:tableStyleId>{D27102A9-8310-4765-A935-A1911B00CA55}</a:tableStyleId>
              </a:tblPr>
              <a:tblGrid>
                <a:gridCol w="8480611">
                  <a:extLst>
                    <a:ext uri="{9D8B030D-6E8A-4147-A177-3AD203B41FA5}">
                      <a16:colId xmlns:a16="http://schemas.microsoft.com/office/drawing/2014/main" val="1792990719"/>
                    </a:ext>
                  </a:extLst>
                </a:gridCol>
              </a:tblGrid>
              <a:tr h="1291452">
                <a:tc>
                  <a:txBody>
                    <a:bodyPr/>
                    <a:lstStyle/>
                    <a:p>
                      <a:pPr algn="ctr"/>
                      <a:r>
                        <a:rPr lang="en-IN" sz="3600" b="1" kern="1200" dirty="0" err="1">
                          <a:solidFill>
                            <a:srgbClr val="000000"/>
                          </a:solidFill>
                          <a:latin typeface="+mn-lt"/>
                          <a:ea typeface="+mn-ea"/>
                          <a:cs typeface="+mn-cs"/>
                        </a:rPr>
                        <a:t>payment_type</a:t>
                      </a:r>
                      <a:r>
                        <a:rPr lang="en-IN" sz="3600" b="1" kern="1200" dirty="0">
                          <a:solidFill>
                            <a:srgbClr val="000000"/>
                          </a:solidFill>
                          <a:latin typeface="+mn-lt"/>
                          <a:ea typeface="+mn-ea"/>
                          <a:cs typeface="+mn-cs"/>
                        </a:rPr>
                        <a:t>, </a:t>
                      </a:r>
                      <a:r>
                        <a:rPr lang="en-IN" sz="3600" b="1" kern="1200" dirty="0" err="1">
                          <a:solidFill>
                            <a:srgbClr val="000000"/>
                          </a:solidFill>
                          <a:latin typeface="+mn-lt"/>
                          <a:ea typeface="+mn-ea"/>
                          <a:cs typeface="+mn-cs"/>
                        </a:rPr>
                        <a:t>payment_value</a:t>
                      </a:r>
                      <a:endParaRPr lang="en-US" sz="3600" b="1" kern="1200" dirty="0">
                        <a:solidFill>
                          <a:srgbClr val="000000"/>
                        </a:solidFill>
                        <a:latin typeface="+mn-lt"/>
                        <a:ea typeface="+mn-ea"/>
                        <a:cs typeface="+mn-cs"/>
                      </a:endParaRPr>
                    </a:p>
                  </a:txBody>
                  <a:tcPr anchor="ctr"/>
                </a:tc>
                <a:extLst>
                  <a:ext uri="{0D108BD9-81ED-4DB2-BD59-A6C34878D82A}">
                    <a16:rowId xmlns:a16="http://schemas.microsoft.com/office/drawing/2014/main" val="223328314"/>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3600" b="1" kern="1200" dirty="0" err="1">
                          <a:solidFill>
                            <a:srgbClr val="000000"/>
                          </a:solidFill>
                          <a:latin typeface="+mn-lt"/>
                          <a:ea typeface="+mn-ea"/>
                          <a:cs typeface="+mn-cs"/>
                        </a:rPr>
                        <a:t>customer_id</a:t>
                      </a:r>
                      <a:r>
                        <a:rPr lang="en-US" sz="3600" b="1" kern="1200" dirty="0">
                          <a:solidFill>
                            <a:srgbClr val="000000"/>
                          </a:solidFill>
                          <a:latin typeface="+mn-lt"/>
                          <a:ea typeface="+mn-ea"/>
                          <a:cs typeface="+mn-cs"/>
                        </a:rPr>
                        <a:t>, </a:t>
                      </a:r>
                      <a:r>
                        <a:rPr lang="en-US" sz="3600" b="1" kern="1200" dirty="0" err="1">
                          <a:solidFill>
                            <a:srgbClr val="000000"/>
                          </a:solidFill>
                          <a:latin typeface="+mn-lt"/>
                          <a:ea typeface="+mn-ea"/>
                          <a:cs typeface="+mn-cs"/>
                        </a:rPr>
                        <a:t>customer_city</a:t>
                      </a:r>
                      <a:r>
                        <a:rPr lang="en-US" sz="3600" b="1" kern="1200" dirty="0">
                          <a:solidFill>
                            <a:srgbClr val="000000"/>
                          </a:solidFill>
                          <a:latin typeface="+mn-lt"/>
                          <a:ea typeface="+mn-ea"/>
                          <a:cs typeface="+mn-cs"/>
                        </a:rPr>
                        <a:t>, </a:t>
                      </a:r>
                      <a:r>
                        <a:rPr lang="en-US" sz="3600" b="1" kern="1200" dirty="0" err="1">
                          <a:solidFill>
                            <a:srgbClr val="000000"/>
                          </a:solidFill>
                          <a:latin typeface="+mn-lt"/>
                          <a:ea typeface="+mn-ea"/>
                          <a:cs typeface="+mn-cs"/>
                        </a:rPr>
                        <a:t>customer_state</a:t>
                      </a:r>
                      <a:endParaRPr lang="es-MX" sz="3600" b="1" kern="1200" dirty="0">
                        <a:solidFill>
                          <a:srgbClr val="000000"/>
                        </a:solidFill>
                        <a:latin typeface="+mn-lt"/>
                        <a:ea typeface="+mn-ea"/>
                        <a:cs typeface="+mn-cs"/>
                      </a:endParaRPr>
                    </a:p>
                  </a:txBody>
                  <a:tcPr anchor="ctr"/>
                </a:tc>
                <a:extLst>
                  <a:ext uri="{0D108BD9-81ED-4DB2-BD59-A6C34878D82A}">
                    <a16:rowId xmlns:a16="http://schemas.microsoft.com/office/drawing/2014/main" val="2672504441"/>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3600" b="1" kern="1200" dirty="0" err="1">
                          <a:solidFill>
                            <a:srgbClr val="000000"/>
                          </a:solidFill>
                          <a:latin typeface="+mn-lt"/>
                          <a:ea typeface="+mn-ea"/>
                          <a:cs typeface="+mn-cs"/>
                        </a:rPr>
                        <a:t>review_score</a:t>
                      </a:r>
                      <a:r>
                        <a:rPr lang="en-US" sz="3600" b="1" kern="1200" dirty="0">
                          <a:solidFill>
                            <a:srgbClr val="000000"/>
                          </a:solidFill>
                          <a:latin typeface="+mn-lt"/>
                          <a:ea typeface="+mn-ea"/>
                          <a:cs typeface="+mn-cs"/>
                        </a:rPr>
                        <a:t>, </a:t>
                      </a:r>
                      <a:r>
                        <a:rPr lang="en-US" sz="3600" b="1" kern="1200" dirty="0" err="1">
                          <a:solidFill>
                            <a:srgbClr val="000000"/>
                          </a:solidFill>
                          <a:latin typeface="+mn-lt"/>
                          <a:ea typeface="+mn-ea"/>
                          <a:cs typeface="+mn-cs"/>
                        </a:rPr>
                        <a:t>review_comment_title</a:t>
                      </a:r>
                      <a:endParaRPr lang="es-MX" sz="3600" b="1" kern="1200" dirty="0">
                        <a:solidFill>
                          <a:srgbClr val="000000"/>
                        </a:solidFill>
                        <a:latin typeface="+mn-lt"/>
                        <a:ea typeface="+mn-ea"/>
                        <a:cs typeface="+mn-cs"/>
                      </a:endParaRPr>
                    </a:p>
                  </a:txBody>
                  <a:tcPr anchor="ctr"/>
                </a:tc>
                <a:extLst>
                  <a:ext uri="{0D108BD9-81ED-4DB2-BD59-A6C34878D82A}">
                    <a16:rowId xmlns:a16="http://schemas.microsoft.com/office/drawing/2014/main" val="2224706380"/>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IN" sz="3600" b="1" kern="1200" dirty="0" err="1">
                          <a:solidFill>
                            <a:srgbClr val="000000"/>
                          </a:solidFill>
                          <a:latin typeface="+mn-lt"/>
                          <a:ea typeface="+mn-ea"/>
                          <a:cs typeface="+mn-cs"/>
                        </a:rPr>
                        <a:t>seller_id</a:t>
                      </a:r>
                      <a:r>
                        <a:rPr lang="en-IN" sz="3600" b="1" kern="1200" dirty="0">
                          <a:solidFill>
                            <a:srgbClr val="000000"/>
                          </a:solidFill>
                          <a:latin typeface="+mn-lt"/>
                          <a:ea typeface="+mn-ea"/>
                          <a:cs typeface="+mn-cs"/>
                        </a:rPr>
                        <a:t>, </a:t>
                      </a:r>
                      <a:r>
                        <a:rPr lang="en-IN" sz="3600" b="1" kern="1200" dirty="0" err="1">
                          <a:solidFill>
                            <a:srgbClr val="000000"/>
                          </a:solidFill>
                          <a:latin typeface="+mn-lt"/>
                          <a:ea typeface="+mn-ea"/>
                          <a:cs typeface="+mn-cs"/>
                        </a:rPr>
                        <a:t>seller_state</a:t>
                      </a:r>
                      <a:endParaRPr lang="en-IN" sz="3600" b="1" kern="1200" dirty="0">
                        <a:solidFill>
                          <a:srgbClr val="000000"/>
                        </a:solidFill>
                        <a:latin typeface="+mn-lt"/>
                        <a:ea typeface="+mn-ea"/>
                        <a:cs typeface="+mn-cs"/>
                      </a:endParaRPr>
                    </a:p>
                  </a:txBody>
                  <a:tcPr anchor="ctr"/>
                </a:tc>
                <a:extLst>
                  <a:ext uri="{0D108BD9-81ED-4DB2-BD59-A6C34878D82A}">
                    <a16:rowId xmlns:a16="http://schemas.microsoft.com/office/drawing/2014/main" val="3747769703"/>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3600" b="1" kern="1200" dirty="0" err="1">
                          <a:solidFill>
                            <a:srgbClr val="000000"/>
                          </a:solidFill>
                          <a:latin typeface="+mn-lt"/>
                          <a:ea typeface="+mn-ea"/>
                          <a:cs typeface="+mn-cs"/>
                        </a:rPr>
                        <a:t>product_id</a:t>
                      </a:r>
                      <a:r>
                        <a:rPr lang="en-US" sz="3600" b="1" kern="1200" dirty="0">
                          <a:solidFill>
                            <a:srgbClr val="000000"/>
                          </a:solidFill>
                          <a:latin typeface="+mn-lt"/>
                          <a:ea typeface="+mn-ea"/>
                          <a:cs typeface="+mn-cs"/>
                        </a:rPr>
                        <a:t>, </a:t>
                      </a:r>
                      <a:r>
                        <a:rPr lang="en-US" sz="3600" b="1" kern="1200" dirty="0" err="1">
                          <a:solidFill>
                            <a:srgbClr val="000000"/>
                          </a:solidFill>
                          <a:latin typeface="+mn-lt"/>
                          <a:ea typeface="+mn-ea"/>
                          <a:cs typeface="+mn-cs"/>
                        </a:rPr>
                        <a:t>product_category_name</a:t>
                      </a:r>
                      <a:endParaRPr lang="es-MX" sz="3600" b="1" kern="1200" dirty="0">
                        <a:solidFill>
                          <a:srgbClr val="000000"/>
                        </a:solidFill>
                        <a:latin typeface="+mn-lt"/>
                        <a:ea typeface="+mn-ea"/>
                        <a:cs typeface="+mn-cs"/>
                      </a:endParaRPr>
                    </a:p>
                  </a:txBody>
                  <a:tcPr anchor="ctr"/>
                </a:tc>
                <a:extLst>
                  <a:ext uri="{0D108BD9-81ED-4DB2-BD59-A6C34878D82A}">
                    <a16:rowId xmlns:a16="http://schemas.microsoft.com/office/drawing/2014/main" val="4262161679"/>
                  </a:ext>
                </a:extLst>
              </a:tr>
              <a:tr h="1291452">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3600" b="1" kern="1200" dirty="0" err="1">
                          <a:solidFill>
                            <a:srgbClr val="000000"/>
                          </a:solidFill>
                          <a:latin typeface="+mn-lt"/>
                          <a:ea typeface="+mn-ea"/>
                          <a:cs typeface="+mn-cs"/>
                        </a:rPr>
                        <a:t>order_id</a:t>
                      </a:r>
                      <a:r>
                        <a:rPr lang="en-US" sz="3600" b="1" kern="1200" dirty="0">
                          <a:solidFill>
                            <a:srgbClr val="000000"/>
                          </a:solidFill>
                          <a:latin typeface="+mn-lt"/>
                          <a:ea typeface="+mn-ea"/>
                          <a:cs typeface="+mn-cs"/>
                        </a:rPr>
                        <a:t>, </a:t>
                      </a:r>
                      <a:r>
                        <a:rPr lang="en-US" sz="3600" b="1" kern="1200" dirty="0" err="1">
                          <a:solidFill>
                            <a:srgbClr val="000000"/>
                          </a:solidFill>
                          <a:latin typeface="+mn-lt"/>
                          <a:ea typeface="+mn-ea"/>
                          <a:cs typeface="+mn-cs"/>
                        </a:rPr>
                        <a:t>product_id</a:t>
                      </a:r>
                      <a:r>
                        <a:rPr lang="en-US" sz="3600" b="1" kern="1200" dirty="0">
                          <a:solidFill>
                            <a:srgbClr val="000000"/>
                          </a:solidFill>
                          <a:latin typeface="+mn-lt"/>
                          <a:ea typeface="+mn-ea"/>
                          <a:cs typeface="+mn-cs"/>
                        </a:rPr>
                        <a:t>, price, </a:t>
                      </a:r>
                      <a:r>
                        <a:rPr lang="en-US" sz="3600" b="1" kern="1200" dirty="0" err="1">
                          <a:solidFill>
                            <a:srgbClr val="000000"/>
                          </a:solidFill>
                          <a:latin typeface="+mn-lt"/>
                          <a:ea typeface="+mn-ea"/>
                          <a:cs typeface="+mn-cs"/>
                        </a:rPr>
                        <a:t>freight_value</a:t>
                      </a:r>
                      <a:endParaRPr lang="es-MX" sz="3600" b="1" kern="1200" dirty="0">
                        <a:solidFill>
                          <a:srgbClr val="000000"/>
                        </a:solidFill>
                        <a:latin typeface="+mn-lt"/>
                        <a:ea typeface="+mn-ea"/>
                        <a:cs typeface="+mn-cs"/>
                      </a:endParaRPr>
                    </a:p>
                  </a:txBody>
                  <a:tcPr anchor="ctr"/>
                </a:tc>
                <a:extLst>
                  <a:ext uri="{0D108BD9-81ED-4DB2-BD59-A6C34878D82A}">
                    <a16:rowId xmlns:a16="http://schemas.microsoft.com/office/drawing/2014/main" val="1397756467"/>
                  </a:ext>
                </a:extLst>
              </a:tr>
            </a:tbl>
          </a:graphicData>
        </a:graphic>
      </p:graphicFrame>
    </p:spTree>
    <p:extLst>
      <p:ext uri="{BB962C8B-B14F-4D97-AF65-F5344CB8AC3E}">
        <p14:creationId xmlns:p14="http://schemas.microsoft.com/office/powerpoint/2010/main" val="1158404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57FE7D-175F-66A2-C972-130C221AD1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010F4E3-55BB-52F6-9A6A-4ACE50D17F40}"/>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KPI - 1</a:t>
            </a:r>
          </a:p>
        </p:txBody>
      </p:sp>
      <p:sp>
        <p:nvSpPr>
          <p:cNvPr id="6" name="Rectangle 5">
            <a:extLst>
              <a:ext uri="{FF2B5EF4-FFF2-40B4-BE49-F238E27FC236}">
                <a16:creationId xmlns:a16="http://schemas.microsoft.com/office/drawing/2014/main" id="{1A1448B0-3DC0-373D-E4A7-1D0D0A758EFB}"/>
              </a:ext>
            </a:extLst>
          </p:cNvPr>
          <p:cNvSpPr/>
          <p:nvPr/>
        </p:nvSpPr>
        <p:spPr>
          <a:xfrm rot="10800000" flipV="1">
            <a:off x="4446494" y="1389653"/>
            <a:ext cx="19931154"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C0AA4CD3-6071-1E3F-FE45-4B2BF8809ECB}"/>
              </a:ext>
            </a:extLst>
          </p:cNvPr>
          <p:cNvSpPr txBox="1"/>
          <p:nvPr/>
        </p:nvSpPr>
        <p:spPr>
          <a:xfrm>
            <a:off x="833593" y="2416643"/>
            <a:ext cx="21363019"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WEEKDAY VS WEEKEND (ORDER_PURCHASE_TIMESTAMP) PAYMENT STATISTICS</a:t>
            </a:r>
          </a:p>
        </p:txBody>
      </p:sp>
      <p:sp>
        <p:nvSpPr>
          <p:cNvPr id="10" name="TextBox 9">
            <a:extLst>
              <a:ext uri="{FF2B5EF4-FFF2-40B4-BE49-F238E27FC236}">
                <a16:creationId xmlns:a16="http://schemas.microsoft.com/office/drawing/2014/main" id="{E32F9E84-8F30-7294-DB7B-DF4751DC5FE9}"/>
              </a:ext>
            </a:extLst>
          </p:cNvPr>
          <p:cNvSpPr txBox="1"/>
          <p:nvPr/>
        </p:nvSpPr>
        <p:spPr>
          <a:xfrm>
            <a:off x="833593" y="3489797"/>
            <a:ext cx="15799703" cy="9966831"/>
          </a:xfrm>
          <a:prstGeom prst="rect">
            <a:avLst/>
          </a:prstGeom>
          <a:noFill/>
          <a:ln>
            <a:noFill/>
          </a:ln>
        </p:spPr>
        <p:txBody>
          <a:bodyPr wrap="square" rtlCol="0">
            <a:spAutoFit/>
          </a:bodyPr>
          <a:lstStyle/>
          <a:p>
            <a:pPr marL="571500" indent="-571500" algn="just" rtl="0" fontAlgn="base">
              <a:buFont typeface="Arial" panose="020B0604020202020204" pitchFamily="34" charset="0"/>
              <a:buChar char="•"/>
            </a:pPr>
            <a:r>
              <a:rPr lang="en-US" sz="4000" dirty="0">
                <a:solidFill>
                  <a:schemeClr val="tx2"/>
                </a:solidFill>
                <a:latin typeface="Montserrat Medium" pitchFamily="2" charset="77"/>
                <a:ea typeface="Roboto Medium" panose="02000000000000000000" pitchFamily="2" charset="0"/>
                <a:cs typeface="Lato Light" panose="020F0502020204030203" pitchFamily="34" charset="0"/>
              </a:rPr>
              <a:t>Count of orders placed and Average payment value is more on weekdays (~77%, $154.44) as compared to weekends(~23%, $152.95)</a:t>
            </a:r>
          </a:p>
          <a:p>
            <a:pPr algn="just" rtl="0" fontAlgn="base"/>
            <a:endParaRPr lang="en-US" sz="4000"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indent="-571500" algn="just" rtl="0" fontAlgn="base">
              <a:spcBef>
                <a:spcPts val="1000"/>
              </a:spcBef>
              <a:buFont typeface="Arial" panose="020B0604020202020204" pitchFamily="34" charset="0"/>
              <a:buChar char="•"/>
            </a:pPr>
            <a:r>
              <a:rPr lang="en-US" sz="4000" dirty="0">
                <a:solidFill>
                  <a:schemeClr val="tx2"/>
                </a:solidFill>
                <a:latin typeface="Montserrat Medium" pitchFamily="2" charset="77"/>
                <a:ea typeface="Roboto Medium" panose="02000000000000000000" pitchFamily="2" charset="0"/>
                <a:cs typeface="Lato Light" panose="020F0502020204030203" pitchFamily="34" charset="0"/>
              </a:rPr>
              <a:t>The least number of orders placed are observed on Saturday (10,887), whereas highest is observed on Monday (16196). </a:t>
            </a:r>
          </a:p>
          <a:p>
            <a:pPr algn="just" rtl="0" fontAlgn="base">
              <a:spcBef>
                <a:spcPts val="1000"/>
              </a:spcBef>
            </a:pPr>
            <a:endParaRPr lang="en-US" sz="4000"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indent="-571500" algn="just" rtl="0" fontAlgn="base">
              <a:spcBef>
                <a:spcPts val="1000"/>
              </a:spcBef>
              <a:buFont typeface="Arial" panose="020B0604020202020204" pitchFamily="34" charset="0"/>
              <a:buChar char="•"/>
            </a:pPr>
            <a:r>
              <a:rPr lang="en-US" sz="4000" dirty="0">
                <a:solidFill>
                  <a:schemeClr val="tx2"/>
                </a:solidFill>
                <a:latin typeface="Montserrat Medium" pitchFamily="2" charset="77"/>
                <a:ea typeface="Roboto Medium" panose="02000000000000000000" pitchFamily="2" charset="0"/>
                <a:cs typeface="Lato Light" panose="020F0502020204030203" pitchFamily="34" charset="0"/>
              </a:rPr>
              <a:t>Average Payment value is observed to be highest on Monday and least on Sunday.</a:t>
            </a:r>
          </a:p>
          <a:p>
            <a:pPr algn="just" rtl="0" fontAlgn="base">
              <a:spcBef>
                <a:spcPts val="1000"/>
              </a:spcBef>
            </a:pPr>
            <a:endParaRPr lang="en-US" sz="4000"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indent="-571500" algn="just" rtl="0" fontAlgn="base">
              <a:spcBef>
                <a:spcPts val="1000"/>
              </a:spcBef>
              <a:buFont typeface="Arial" panose="020B0604020202020204" pitchFamily="34" charset="0"/>
              <a:buChar char="•"/>
            </a:pPr>
            <a:r>
              <a:rPr lang="en-US" sz="4000" dirty="0">
                <a:solidFill>
                  <a:schemeClr val="tx2"/>
                </a:solidFill>
                <a:latin typeface="Montserrat Medium" pitchFamily="2" charset="77"/>
                <a:ea typeface="Roboto Medium" panose="02000000000000000000" pitchFamily="2" charset="0"/>
                <a:cs typeface="Lato Light" panose="020F0502020204030203" pitchFamily="34" charset="0"/>
              </a:rPr>
              <a:t>Promotions, discounts and advertising campaigns can be strategically planned to maximize customer engagement and sales</a:t>
            </a:r>
            <a:r>
              <a:rPr lang="en-US" sz="4000" b="0" i="0" u="none" strike="noStrike" dirty="0">
                <a:solidFill>
                  <a:srgbClr val="000000"/>
                </a:solidFill>
                <a:effectLst/>
                <a:latin typeface="Gill Sans"/>
              </a:rPr>
              <a:t>.</a:t>
            </a:r>
            <a:endParaRPr lang="en-US" sz="4000" b="0" i="0" u="none" strike="noStrike" dirty="0">
              <a:solidFill>
                <a:srgbClr val="B71E42"/>
              </a:solidFill>
              <a:effectLst/>
              <a:latin typeface="Arial" panose="020B0604020202020204" pitchFamily="34" charset="0"/>
            </a:endParaRPr>
          </a:p>
          <a:p>
            <a:pPr rtl="0"/>
            <a:endPar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endParaRPr>
          </a:p>
        </p:txBody>
      </p:sp>
      <p:sp>
        <p:nvSpPr>
          <p:cNvPr id="15" name="TextBox 14">
            <a:extLst>
              <a:ext uri="{FF2B5EF4-FFF2-40B4-BE49-F238E27FC236}">
                <a16:creationId xmlns:a16="http://schemas.microsoft.com/office/drawing/2014/main" id="{6963A070-2C2E-0670-6649-60366F935C5F}"/>
              </a:ext>
            </a:extLst>
          </p:cNvPr>
          <p:cNvSpPr txBox="1"/>
          <p:nvPr/>
        </p:nvSpPr>
        <p:spPr>
          <a:xfrm>
            <a:off x="19178456" y="6273224"/>
            <a:ext cx="1374210" cy="461665"/>
          </a:xfrm>
          <a:prstGeom prst="rect">
            <a:avLst/>
          </a:prstGeom>
          <a:noFill/>
        </p:spPr>
        <p:txBody>
          <a:bodyPr wrap="square" rtlCol="0">
            <a:spAutoFit/>
          </a:bodyPr>
          <a:lstStyle/>
          <a:p>
            <a:r>
              <a:rPr lang="en-US" sz="2400" b="1" dirty="0">
                <a:solidFill>
                  <a:srgbClr val="EFF1F8"/>
                </a:solidFill>
              </a:rPr>
              <a:t>Weekday</a:t>
            </a:r>
            <a:endParaRPr lang="en-IN" sz="2400" b="1" dirty="0">
              <a:solidFill>
                <a:srgbClr val="EFF1F8"/>
              </a:solidFill>
            </a:endParaRPr>
          </a:p>
        </p:txBody>
      </p:sp>
      <p:sp>
        <p:nvSpPr>
          <p:cNvPr id="16" name="TextBox 15">
            <a:extLst>
              <a:ext uri="{FF2B5EF4-FFF2-40B4-BE49-F238E27FC236}">
                <a16:creationId xmlns:a16="http://schemas.microsoft.com/office/drawing/2014/main" id="{D7459F0C-675A-6AA9-0DE4-6D7C0A8388BB}"/>
              </a:ext>
            </a:extLst>
          </p:cNvPr>
          <p:cNvSpPr txBox="1"/>
          <p:nvPr/>
        </p:nvSpPr>
        <p:spPr>
          <a:xfrm>
            <a:off x="17821882" y="4707470"/>
            <a:ext cx="1599255" cy="461665"/>
          </a:xfrm>
          <a:prstGeom prst="rect">
            <a:avLst/>
          </a:prstGeom>
          <a:noFill/>
        </p:spPr>
        <p:txBody>
          <a:bodyPr wrap="square" rtlCol="0">
            <a:spAutoFit/>
          </a:bodyPr>
          <a:lstStyle/>
          <a:p>
            <a:r>
              <a:rPr lang="en-US" sz="2400" b="1" dirty="0">
                <a:solidFill>
                  <a:srgbClr val="EFF1F8"/>
                </a:solidFill>
              </a:rPr>
              <a:t>Weekend</a:t>
            </a:r>
            <a:endParaRPr lang="en-IN" sz="2400" b="1" dirty="0">
              <a:solidFill>
                <a:srgbClr val="EFF1F8"/>
              </a:solidFill>
            </a:endParaRPr>
          </a:p>
        </p:txBody>
      </p:sp>
      <p:pic>
        <p:nvPicPr>
          <p:cNvPr id="20" name="Picture 19">
            <a:extLst>
              <a:ext uri="{FF2B5EF4-FFF2-40B4-BE49-F238E27FC236}">
                <a16:creationId xmlns:a16="http://schemas.microsoft.com/office/drawing/2014/main" id="{C9B2323E-D149-B3CA-38F9-AC986BF00537}"/>
              </a:ext>
            </a:extLst>
          </p:cNvPr>
          <p:cNvPicPr>
            <a:picLocks noChangeAspect="1"/>
          </p:cNvPicPr>
          <p:nvPr/>
        </p:nvPicPr>
        <p:blipFill>
          <a:blip r:embed="rId2"/>
          <a:stretch>
            <a:fillRect/>
          </a:stretch>
        </p:blipFill>
        <p:spPr>
          <a:xfrm>
            <a:off x="17150115" y="3124529"/>
            <a:ext cx="6393942" cy="4477542"/>
          </a:xfrm>
          <a:prstGeom prst="rect">
            <a:avLst/>
          </a:prstGeom>
          <a:effectLst>
            <a:glow rad="101600">
              <a:schemeClr val="accent2">
                <a:satMod val="175000"/>
                <a:alpha val="40000"/>
              </a:schemeClr>
            </a:glow>
          </a:effectLst>
        </p:spPr>
      </p:pic>
      <p:pic>
        <p:nvPicPr>
          <p:cNvPr id="22" name="Picture 21">
            <a:extLst>
              <a:ext uri="{FF2B5EF4-FFF2-40B4-BE49-F238E27FC236}">
                <a16:creationId xmlns:a16="http://schemas.microsoft.com/office/drawing/2014/main" id="{74CC47AE-C780-4A2F-62E0-A1A8D07C27A3}"/>
              </a:ext>
            </a:extLst>
          </p:cNvPr>
          <p:cNvPicPr>
            <a:picLocks noChangeAspect="1"/>
          </p:cNvPicPr>
          <p:nvPr/>
        </p:nvPicPr>
        <p:blipFill>
          <a:blip r:embed="rId3"/>
          <a:stretch>
            <a:fillRect/>
          </a:stretch>
        </p:blipFill>
        <p:spPr>
          <a:xfrm>
            <a:off x="17150115" y="7838977"/>
            <a:ext cx="6393942" cy="5010327"/>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3048468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F9A8D7-9094-8AF2-6412-A64EA670640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DCA839F-386E-9A68-BFD9-040D976C7AFB}"/>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KPI - 2</a:t>
            </a:r>
          </a:p>
        </p:txBody>
      </p:sp>
      <p:sp>
        <p:nvSpPr>
          <p:cNvPr id="6" name="Rectangle 5">
            <a:extLst>
              <a:ext uri="{FF2B5EF4-FFF2-40B4-BE49-F238E27FC236}">
                <a16:creationId xmlns:a16="http://schemas.microsoft.com/office/drawing/2014/main" id="{2AE2D9B8-600A-ACE5-1426-5FD02E770285}"/>
              </a:ext>
            </a:extLst>
          </p:cNvPr>
          <p:cNvSpPr/>
          <p:nvPr/>
        </p:nvSpPr>
        <p:spPr>
          <a:xfrm rot="10800000" flipV="1">
            <a:off x="4446494" y="1389653"/>
            <a:ext cx="19931154"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C6135D7D-EC9D-E8F4-BE83-86A5D1634676}"/>
              </a:ext>
            </a:extLst>
          </p:cNvPr>
          <p:cNvSpPr txBox="1"/>
          <p:nvPr/>
        </p:nvSpPr>
        <p:spPr>
          <a:xfrm>
            <a:off x="833593" y="2382231"/>
            <a:ext cx="22168946" cy="661720"/>
          </a:xfrm>
          <a:prstGeom prst="rect">
            <a:avLst/>
          </a:prstGeom>
          <a:noFill/>
          <a:ln>
            <a:noFill/>
          </a:ln>
        </p:spPr>
        <p:txBody>
          <a:bodyPr wrap="square" rtlCol="0">
            <a:spAutoFit/>
          </a:bodyPr>
          <a:lstStyle/>
          <a:p>
            <a:pPr rtl="0"/>
            <a:r>
              <a:rPr lang="en-US" sz="37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TOTAL NUMBER OF ORDERS WITH REVIEW SCORE 5 AND PAYMENT TYPE AS CREDIT CARD</a:t>
            </a:r>
          </a:p>
        </p:txBody>
      </p:sp>
      <p:sp>
        <p:nvSpPr>
          <p:cNvPr id="3" name="TextBox 2">
            <a:extLst>
              <a:ext uri="{FF2B5EF4-FFF2-40B4-BE49-F238E27FC236}">
                <a16:creationId xmlns:a16="http://schemas.microsoft.com/office/drawing/2014/main" id="{F18C0B41-9D05-F472-BA97-4BFDF345B4FB}"/>
              </a:ext>
            </a:extLst>
          </p:cNvPr>
          <p:cNvSpPr txBox="1"/>
          <p:nvPr/>
        </p:nvSpPr>
        <p:spPr>
          <a:xfrm>
            <a:off x="833593" y="3043951"/>
            <a:ext cx="14998076" cy="11156900"/>
          </a:xfrm>
          <a:prstGeom prst="rect">
            <a:avLst/>
          </a:prstGeom>
          <a:noFill/>
          <a:ln>
            <a:noFill/>
          </a:ln>
        </p:spPr>
        <p:txBody>
          <a:bodyPr wrap="square" rtlCol="0">
            <a:spAutoFit/>
          </a:bodyPr>
          <a:lstStyle/>
          <a:p>
            <a:pPr marL="571500" indent="-571500" algn="just" rtl="0" fontAlgn="base">
              <a:spcBef>
                <a:spcPts val="1000"/>
              </a:spcBef>
              <a:buFont typeface="Arial" panose="020B0604020202020204" pitchFamily="34" charset="0"/>
              <a:buChar char="•"/>
            </a:pPr>
            <a:r>
              <a:rPr lang="en-US" sz="3700" dirty="0">
                <a:solidFill>
                  <a:schemeClr val="tx2"/>
                </a:solidFill>
                <a:latin typeface="Montserrat Medium" pitchFamily="2" charset="77"/>
                <a:ea typeface="Roboto Medium" panose="02000000000000000000" pitchFamily="2" charset="0"/>
                <a:cs typeface="Lato Light" panose="020F0502020204030203" pitchFamily="34" charset="0"/>
              </a:rPr>
              <a:t>Approximately 77% of the customers prefer credit card as a payment method and 58% of the reviews are rated 5 for this payment type.</a:t>
            </a:r>
          </a:p>
          <a:p>
            <a:pPr algn="just" rtl="0" fontAlgn="base">
              <a:spcBef>
                <a:spcPts val="1000"/>
              </a:spcBef>
            </a:pPr>
            <a:endParaRPr lang="en-US" sz="3700"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indent="-571500" algn="just" rtl="0" fontAlgn="base">
              <a:spcBef>
                <a:spcPts val="1000"/>
              </a:spcBef>
              <a:buFont typeface="Arial" panose="020B0604020202020204" pitchFamily="34" charset="0"/>
              <a:buChar char="•"/>
            </a:pPr>
            <a:r>
              <a:rPr lang="en-US" sz="3700" dirty="0">
                <a:solidFill>
                  <a:schemeClr val="tx2"/>
                </a:solidFill>
                <a:latin typeface="Montserrat Medium" pitchFamily="2" charset="77"/>
                <a:ea typeface="Roboto Medium" panose="02000000000000000000" pitchFamily="2" charset="0"/>
                <a:cs typeface="Lato Light" panose="020F0502020204030203" pitchFamily="34" charset="0"/>
              </a:rPr>
              <a:t>The highest Orders with review score 5 using credit card is  43981 &amp; The average review score is 4.09</a:t>
            </a:r>
          </a:p>
          <a:p>
            <a:pPr algn="just" rtl="0" fontAlgn="base">
              <a:spcBef>
                <a:spcPts val="1000"/>
              </a:spcBef>
            </a:pPr>
            <a:endParaRPr lang="en-US" sz="3700"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indent="-571500" algn="just" rtl="0" fontAlgn="base">
              <a:spcBef>
                <a:spcPts val="1000"/>
              </a:spcBef>
              <a:buFont typeface="Arial" panose="020B0604020202020204" pitchFamily="34" charset="0"/>
              <a:buChar char="•"/>
            </a:pPr>
            <a:r>
              <a:rPr lang="en-US" sz="3700" dirty="0">
                <a:solidFill>
                  <a:schemeClr val="tx2"/>
                </a:solidFill>
                <a:latin typeface="Montserrat Medium" pitchFamily="2" charset="77"/>
                <a:ea typeface="Roboto Medium" panose="02000000000000000000" pitchFamily="2" charset="0"/>
                <a:cs typeface="Lato Light" panose="020F0502020204030203" pitchFamily="34" charset="0"/>
              </a:rPr>
              <a:t>Monitoring the relationship between  the number of credit card orders and review scores over time is crucial as it allows assess customer satisfaction and identify any changes or trends that may require attention or improvement.</a:t>
            </a:r>
          </a:p>
          <a:p>
            <a:pPr algn="just" rtl="0" fontAlgn="base">
              <a:spcBef>
                <a:spcPts val="1000"/>
              </a:spcBef>
            </a:pPr>
            <a:endParaRPr lang="en-US" sz="3700"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indent="-571500" algn="just" rtl="0" fontAlgn="base">
              <a:spcBef>
                <a:spcPts val="1000"/>
              </a:spcBef>
              <a:buFont typeface="Arial" panose="020B0604020202020204" pitchFamily="34" charset="0"/>
              <a:buChar char="•"/>
            </a:pPr>
            <a:r>
              <a:rPr lang="en-US" sz="3700" dirty="0">
                <a:solidFill>
                  <a:schemeClr val="tx2"/>
                </a:solidFill>
                <a:latin typeface="Montserrat Medium" pitchFamily="2" charset="77"/>
                <a:ea typeface="Roboto Medium" panose="02000000000000000000" pitchFamily="2" charset="0"/>
                <a:cs typeface="Lato Light" panose="020F0502020204030203" pitchFamily="34" charset="0"/>
              </a:rPr>
              <a:t>The customer reviews should be </a:t>
            </a:r>
            <a:r>
              <a:rPr lang="en-US" sz="3700" dirty="0" err="1">
                <a:solidFill>
                  <a:schemeClr val="tx2"/>
                </a:solidFill>
                <a:latin typeface="Montserrat Medium" pitchFamily="2" charset="77"/>
                <a:ea typeface="Roboto Medium" panose="02000000000000000000" pitchFamily="2" charset="0"/>
                <a:cs typeface="Lato Light" panose="020F0502020204030203" pitchFamily="34" charset="0"/>
              </a:rPr>
              <a:t>analysed</a:t>
            </a:r>
            <a:r>
              <a:rPr lang="en-US" sz="3700" dirty="0">
                <a:solidFill>
                  <a:schemeClr val="tx2"/>
                </a:solidFill>
                <a:latin typeface="Montserrat Medium" pitchFamily="2" charset="77"/>
                <a:ea typeface="Roboto Medium" panose="02000000000000000000" pitchFamily="2" charset="0"/>
                <a:cs typeface="Lato Light" panose="020F0502020204030203" pitchFamily="34" charset="0"/>
              </a:rPr>
              <a:t>/read carefully and proper solution to the mentioned problems need to be identified to improve the review scores for least rated orders.</a:t>
            </a:r>
          </a:p>
          <a:p>
            <a:pPr rtl="0"/>
            <a:endPar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endParaRPr>
          </a:p>
        </p:txBody>
      </p:sp>
      <p:pic>
        <p:nvPicPr>
          <p:cNvPr id="7" name="Picture 6">
            <a:extLst>
              <a:ext uri="{FF2B5EF4-FFF2-40B4-BE49-F238E27FC236}">
                <a16:creationId xmlns:a16="http://schemas.microsoft.com/office/drawing/2014/main" id="{33DDD2C6-0BD9-8BEB-6AE8-8742B99D7BFC}"/>
              </a:ext>
            </a:extLst>
          </p:cNvPr>
          <p:cNvPicPr>
            <a:picLocks noChangeAspect="1"/>
          </p:cNvPicPr>
          <p:nvPr/>
        </p:nvPicPr>
        <p:blipFill>
          <a:blip r:embed="rId2"/>
          <a:stretch>
            <a:fillRect/>
          </a:stretch>
        </p:blipFill>
        <p:spPr>
          <a:xfrm>
            <a:off x="16369552" y="4399164"/>
            <a:ext cx="7174501" cy="6934605"/>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3137839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BA04A9-A863-AD91-234B-F9754AB085F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971DAE-66BD-75A7-E772-9592516349ED}"/>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KPI - 3</a:t>
            </a:r>
          </a:p>
        </p:txBody>
      </p:sp>
      <p:sp>
        <p:nvSpPr>
          <p:cNvPr id="6" name="Rectangle 5">
            <a:extLst>
              <a:ext uri="{FF2B5EF4-FFF2-40B4-BE49-F238E27FC236}">
                <a16:creationId xmlns:a16="http://schemas.microsoft.com/office/drawing/2014/main" id="{EAA06EFD-1133-FB8A-4469-C783864B7BFD}"/>
              </a:ext>
            </a:extLst>
          </p:cNvPr>
          <p:cNvSpPr/>
          <p:nvPr/>
        </p:nvSpPr>
        <p:spPr>
          <a:xfrm rot="10800000" flipV="1">
            <a:off x="4446494" y="1389653"/>
            <a:ext cx="19931154"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9E4FA937-BBFC-570C-2CF5-D1D3995FAFDA}"/>
              </a:ext>
            </a:extLst>
          </p:cNvPr>
          <p:cNvSpPr txBox="1"/>
          <p:nvPr/>
        </p:nvSpPr>
        <p:spPr>
          <a:xfrm>
            <a:off x="833593" y="2382231"/>
            <a:ext cx="22168946" cy="661720"/>
          </a:xfrm>
          <a:prstGeom prst="rect">
            <a:avLst/>
          </a:prstGeom>
          <a:noFill/>
          <a:ln>
            <a:noFill/>
          </a:ln>
        </p:spPr>
        <p:txBody>
          <a:bodyPr wrap="square" rtlCol="0">
            <a:spAutoFit/>
          </a:bodyPr>
          <a:lstStyle/>
          <a:p>
            <a:pPr rtl="0"/>
            <a:r>
              <a:rPr lang="en-US" sz="37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Average number of days taken for order_ delivered _customer _ date for pet_ shop</a:t>
            </a:r>
          </a:p>
        </p:txBody>
      </p:sp>
      <p:sp>
        <p:nvSpPr>
          <p:cNvPr id="3" name="TextBox 2">
            <a:extLst>
              <a:ext uri="{FF2B5EF4-FFF2-40B4-BE49-F238E27FC236}">
                <a16:creationId xmlns:a16="http://schemas.microsoft.com/office/drawing/2014/main" id="{68D2AE17-7797-107E-67E3-C43616AE7A35}"/>
              </a:ext>
            </a:extLst>
          </p:cNvPr>
          <p:cNvSpPr txBox="1"/>
          <p:nvPr/>
        </p:nvSpPr>
        <p:spPr>
          <a:xfrm>
            <a:off x="672232" y="4569425"/>
            <a:ext cx="14531909" cy="4577150"/>
          </a:xfrm>
          <a:prstGeom prst="rect">
            <a:avLst/>
          </a:prstGeom>
          <a:noFill/>
          <a:ln>
            <a:noFill/>
          </a:ln>
        </p:spPr>
        <p:txBody>
          <a:bodyPr wrap="square" rtlCol="0">
            <a:spAutoFit/>
          </a:bodyPr>
          <a:lstStyle/>
          <a:p>
            <a:pPr algn="just" fontAlgn="base">
              <a:lnSpc>
                <a:spcPct val="90000"/>
              </a:lnSpc>
              <a:spcBef>
                <a:spcPts val="1000"/>
              </a:spcBef>
              <a:spcAft>
                <a:spcPts val="600"/>
              </a:spcAft>
            </a:pPr>
            <a:r>
              <a:rPr lang="en-US" sz="3700" dirty="0">
                <a:solidFill>
                  <a:schemeClr val="tx2"/>
                </a:solidFill>
                <a:latin typeface="Montserrat Medium" pitchFamily="2" charset="77"/>
                <a:ea typeface="Roboto Medium" panose="02000000000000000000" pitchFamily="2" charset="0"/>
                <a:cs typeface="Lato Light" panose="020F0502020204030203" pitchFamily="34" charset="0"/>
              </a:rPr>
              <a:t>For product category pet shop it is observed that it takes average of  11 delivery days approximately. </a:t>
            </a:r>
          </a:p>
          <a:p>
            <a:pPr algn="just" fontAlgn="base">
              <a:lnSpc>
                <a:spcPct val="90000"/>
              </a:lnSpc>
              <a:spcBef>
                <a:spcPts val="1000"/>
              </a:spcBef>
              <a:spcAft>
                <a:spcPts val="600"/>
              </a:spcAft>
            </a:pPr>
            <a:r>
              <a:rPr lang="en-US" sz="3700" dirty="0">
                <a:solidFill>
                  <a:schemeClr val="tx2"/>
                </a:solidFill>
                <a:latin typeface="Montserrat Medium" pitchFamily="2" charset="77"/>
                <a:ea typeface="Roboto Medium" panose="02000000000000000000" pitchFamily="2" charset="0"/>
                <a:cs typeface="Lato Light" panose="020F0502020204030203" pitchFamily="34" charset="0"/>
              </a:rPr>
              <a:t>This KPI helps businesses understand how long it typically takes to deliver products within the pet shop category. If 11 days is considered too long, improvements in logistics and supply chain efficiency may be required to reduce delivery times and enhance customer satisfaction.</a:t>
            </a:r>
          </a:p>
          <a:p>
            <a:pPr rtl="0"/>
            <a:endPar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endParaRPr>
          </a:p>
        </p:txBody>
      </p:sp>
      <p:pic>
        <p:nvPicPr>
          <p:cNvPr id="8" name="Picture 7">
            <a:extLst>
              <a:ext uri="{FF2B5EF4-FFF2-40B4-BE49-F238E27FC236}">
                <a16:creationId xmlns:a16="http://schemas.microsoft.com/office/drawing/2014/main" id="{6F0CC83E-5850-AC12-25B0-534D4C517F19}"/>
              </a:ext>
            </a:extLst>
          </p:cNvPr>
          <p:cNvPicPr>
            <a:picLocks noChangeAspect="1"/>
          </p:cNvPicPr>
          <p:nvPr/>
        </p:nvPicPr>
        <p:blipFill>
          <a:blip r:embed="rId2"/>
          <a:stretch>
            <a:fillRect/>
          </a:stretch>
        </p:blipFill>
        <p:spPr>
          <a:xfrm>
            <a:off x="15914408" y="3830495"/>
            <a:ext cx="7088131" cy="7503273"/>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3152389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52FFA3-C518-2AE7-F32A-B032B7B829D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C282231-53E0-DB63-103A-FA898E4F267B}"/>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KPI - 4</a:t>
            </a:r>
          </a:p>
        </p:txBody>
      </p:sp>
      <p:sp>
        <p:nvSpPr>
          <p:cNvPr id="6" name="Rectangle 5">
            <a:extLst>
              <a:ext uri="{FF2B5EF4-FFF2-40B4-BE49-F238E27FC236}">
                <a16:creationId xmlns:a16="http://schemas.microsoft.com/office/drawing/2014/main" id="{1FCE1C6C-3701-39A3-8D30-F7328EFCC926}"/>
              </a:ext>
            </a:extLst>
          </p:cNvPr>
          <p:cNvSpPr/>
          <p:nvPr/>
        </p:nvSpPr>
        <p:spPr>
          <a:xfrm rot="10800000" flipV="1">
            <a:off x="4643718" y="1389652"/>
            <a:ext cx="19733930" cy="2060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4316A8F2-3362-24F7-41E0-D812A186561E}"/>
              </a:ext>
            </a:extLst>
          </p:cNvPr>
          <p:cNvSpPr txBox="1"/>
          <p:nvPr/>
        </p:nvSpPr>
        <p:spPr>
          <a:xfrm>
            <a:off x="959099" y="2320848"/>
            <a:ext cx="22168946" cy="661720"/>
          </a:xfrm>
          <a:prstGeom prst="rect">
            <a:avLst/>
          </a:prstGeom>
          <a:noFill/>
          <a:ln>
            <a:noFill/>
          </a:ln>
        </p:spPr>
        <p:txBody>
          <a:bodyPr wrap="square" rtlCol="0">
            <a:spAutoFit/>
          </a:bodyPr>
          <a:lstStyle/>
          <a:p>
            <a:pPr rtl="0"/>
            <a:r>
              <a:rPr lang="en-US" sz="37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Average price and payment values from customers of Sao Paulo city</a:t>
            </a:r>
          </a:p>
        </p:txBody>
      </p:sp>
      <p:sp>
        <p:nvSpPr>
          <p:cNvPr id="3" name="TextBox 2">
            <a:extLst>
              <a:ext uri="{FF2B5EF4-FFF2-40B4-BE49-F238E27FC236}">
                <a16:creationId xmlns:a16="http://schemas.microsoft.com/office/drawing/2014/main" id="{131E2730-B09D-8CE1-1F19-E7BDE00B3AE9}"/>
              </a:ext>
            </a:extLst>
          </p:cNvPr>
          <p:cNvSpPr txBox="1"/>
          <p:nvPr/>
        </p:nvSpPr>
        <p:spPr>
          <a:xfrm>
            <a:off x="1082088" y="3983618"/>
            <a:ext cx="13361699" cy="7719549"/>
          </a:xfrm>
          <a:prstGeom prst="rect">
            <a:avLst/>
          </a:prstGeom>
          <a:noFill/>
          <a:ln>
            <a:noFill/>
          </a:ln>
        </p:spPr>
        <p:txBody>
          <a:bodyPr wrap="square" rtlCol="0">
            <a:spAutoFit/>
          </a:bodyPr>
          <a:lstStyle/>
          <a:p>
            <a:pPr algn="just" fontAlgn="base">
              <a:lnSpc>
                <a:spcPct val="90000"/>
              </a:lnSpc>
              <a:spcBef>
                <a:spcPts val="1000"/>
              </a:spcBef>
              <a:spcAft>
                <a:spcPts val="600"/>
              </a:spcAft>
            </a:pPr>
            <a:endParaRPr lang="en-US" sz="3700" b="1"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indent="-571500" algn="just" fontAlgn="base">
              <a:lnSpc>
                <a:spcPct val="90000"/>
              </a:lnSpc>
              <a:spcBef>
                <a:spcPts val="1000"/>
              </a:spcBef>
              <a:spcAft>
                <a:spcPts val="600"/>
              </a:spcAft>
              <a:buFont typeface="Arial" panose="020B0604020202020204" pitchFamily="34" charset="0"/>
              <a:buChar char="•"/>
            </a:pPr>
            <a:r>
              <a:rPr lang="en-US" sz="3700" dirty="0">
                <a:solidFill>
                  <a:schemeClr val="tx2"/>
                </a:solidFill>
                <a:latin typeface="Montserrat Medium" pitchFamily="2" charset="77"/>
                <a:ea typeface="Roboto Medium" panose="02000000000000000000" pitchFamily="2" charset="0"/>
                <a:cs typeface="Lato Light" panose="020F0502020204030203" pitchFamily="34" charset="0"/>
              </a:rPr>
              <a:t>Approximate values for both Avg payment value  and Avg price as 136 and 108.</a:t>
            </a:r>
          </a:p>
          <a:p>
            <a:pPr algn="just" fontAlgn="base">
              <a:lnSpc>
                <a:spcPct val="90000"/>
              </a:lnSpc>
              <a:spcBef>
                <a:spcPts val="1000"/>
              </a:spcBef>
              <a:spcAft>
                <a:spcPts val="600"/>
              </a:spcAft>
            </a:pPr>
            <a:endParaRPr lang="en-US" sz="3700"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indent="-571500" algn="just" fontAlgn="base">
              <a:lnSpc>
                <a:spcPct val="90000"/>
              </a:lnSpc>
              <a:spcBef>
                <a:spcPts val="1000"/>
              </a:spcBef>
              <a:spcAft>
                <a:spcPts val="600"/>
              </a:spcAft>
              <a:buFont typeface="Arial" panose="020B0604020202020204" pitchFamily="34" charset="0"/>
              <a:buChar char="•"/>
            </a:pPr>
            <a:r>
              <a:rPr lang="en-US" sz="3700" dirty="0">
                <a:solidFill>
                  <a:schemeClr val="tx2"/>
                </a:solidFill>
                <a:latin typeface="Montserrat Medium" pitchFamily="2" charset="77"/>
                <a:ea typeface="Roboto Medium" panose="02000000000000000000" pitchFamily="2" charset="0"/>
                <a:cs typeface="Lato Light" panose="020F0502020204030203" pitchFamily="34" charset="0"/>
              </a:rPr>
              <a:t>From the analysis, it shows that Sao Paulo city is paying more that the base price of products, possibility due to</a:t>
            </a:r>
          </a:p>
          <a:p>
            <a:pPr marL="1657167" lvl="1" indent="-742950" algn="just" fontAlgn="base">
              <a:lnSpc>
                <a:spcPct val="90000"/>
              </a:lnSpc>
              <a:spcBef>
                <a:spcPts val="1000"/>
              </a:spcBef>
              <a:spcAft>
                <a:spcPts val="600"/>
              </a:spcAft>
              <a:buFont typeface="+mj-lt"/>
              <a:buAutoNum type="arabicPeriod"/>
            </a:pPr>
            <a:r>
              <a:rPr lang="en-US" altLang="en-US" sz="3700" dirty="0">
                <a:solidFill>
                  <a:schemeClr val="tx2"/>
                </a:solidFill>
                <a:latin typeface="Montserrat Medium" pitchFamily="2" charset="77"/>
                <a:ea typeface="Roboto Medium" panose="02000000000000000000" pitchFamily="2" charset="0"/>
                <a:cs typeface="Lato Light" panose="020F0502020204030203" pitchFamily="34" charset="0"/>
              </a:rPr>
              <a:t>Shipping costs or additional fees</a:t>
            </a:r>
          </a:p>
          <a:p>
            <a:pPr marL="1657167" lvl="1" indent="-742950" algn="just" fontAlgn="base">
              <a:lnSpc>
                <a:spcPct val="90000"/>
              </a:lnSpc>
              <a:spcBef>
                <a:spcPts val="1000"/>
              </a:spcBef>
              <a:spcAft>
                <a:spcPts val="600"/>
              </a:spcAft>
              <a:buAutoNum type="arabicPeriod"/>
            </a:pPr>
            <a:r>
              <a:rPr lang="en-US" altLang="en-US" sz="3700" dirty="0">
                <a:solidFill>
                  <a:schemeClr val="tx2"/>
                </a:solidFill>
                <a:latin typeface="Montserrat Medium" pitchFamily="2" charset="77"/>
                <a:ea typeface="Roboto Medium" panose="02000000000000000000" pitchFamily="2" charset="0"/>
                <a:cs typeface="Lato Light" panose="020F0502020204030203" pitchFamily="34" charset="0"/>
              </a:rPr>
              <a:t>Higher-priced items or premium services</a:t>
            </a:r>
          </a:p>
          <a:p>
            <a:pPr marL="1657167" lvl="1" indent="-742950" algn="just" fontAlgn="base">
              <a:lnSpc>
                <a:spcPct val="90000"/>
              </a:lnSpc>
              <a:spcBef>
                <a:spcPts val="1000"/>
              </a:spcBef>
              <a:spcAft>
                <a:spcPts val="600"/>
              </a:spcAft>
              <a:buAutoNum type="arabicPeriod"/>
            </a:pPr>
            <a:r>
              <a:rPr lang="en-US" altLang="en-US" sz="3700" dirty="0">
                <a:solidFill>
                  <a:schemeClr val="tx2"/>
                </a:solidFill>
                <a:latin typeface="Montserrat Medium" pitchFamily="2" charset="77"/>
                <a:ea typeface="Roboto Medium" panose="02000000000000000000" pitchFamily="2" charset="0"/>
                <a:cs typeface="Lato Light" panose="020F0502020204030203" pitchFamily="34" charset="0"/>
              </a:rPr>
              <a:t>Multiple product purchases in a single transaction</a:t>
            </a:r>
          </a:p>
          <a:p>
            <a:pPr indent="-571500" algn="just" fontAlgn="base">
              <a:lnSpc>
                <a:spcPct val="90000"/>
              </a:lnSpc>
              <a:spcBef>
                <a:spcPts val="1000"/>
              </a:spcBef>
              <a:spcAft>
                <a:spcPts val="600"/>
              </a:spcAft>
              <a:buFont typeface="Arial" panose="020B0604020202020204" pitchFamily="34" charset="0"/>
              <a:buChar char="•"/>
            </a:pPr>
            <a:endPar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endParaRPr>
          </a:p>
        </p:txBody>
      </p:sp>
      <p:pic>
        <p:nvPicPr>
          <p:cNvPr id="8" name="Picture 7">
            <a:extLst>
              <a:ext uri="{FF2B5EF4-FFF2-40B4-BE49-F238E27FC236}">
                <a16:creationId xmlns:a16="http://schemas.microsoft.com/office/drawing/2014/main" id="{5B5E9166-1428-7CF9-7411-EB92756BE943}"/>
              </a:ext>
            </a:extLst>
          </p:cNvPr>
          <p:cNvPicPr>
            <a:picLocks noChangeAspect="1"/>
          </p:cNvPicPr>
          <p:nvPr/>
        </p:nvPicPr>
        <p:blipFill>
          <a:blip r:embed="rId2"/>
          <a:stretch>
            <a:fillRect/>
          </a:stretch>
        </p:blipFill>
        <p:spPr>
          <a:xfrm>
            <a:off x="15033875" y="3983618"/>
            <a:ext cx="8541605" cy="6724744"/>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1939045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C46F13-E3CC-09BB-E220-6455871AC7D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46DB328-599F-FF0A-A5C7-A22EF4D03BDE}"/>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KPI - 5</a:t>
            </a:r>
          </a:p>
        </p:txBody>
      </p:sp>
      <p:sp>
        <p:nvSpPr>
          <p:cNvPr id="6" name="Rectangle 5">
            <a:extLst>
              <a:ext uri="{FF2B5EF4-FFF2-40B4-BE49-F238E27FC236}">
                <a16:creationId xmlns:a16="http://schemas.microsoft.com/office/drawing/2014/main" id="{3EA7DF16-3AE3-DB57-14D8-ED1DDE491D42}"/>
              </a:ext>
            </a:extLst>
          </p:cNvPr>
          <p:cNvSpPr/>
          <p:nvPr/>
        </p:nvSpPr>
        <p:spPr>
          <a:xfrm rot="10800000" flipV="1">
            <a:off x="4643718" y="1389652"/>
            <a:ext cx="19733930" cy="2060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D86B985E-55AB-5EA8-A62B-5C415FED48AA}"/>
              </a:ext>
            </a:extLst>
          </p:cNvPr>
          <p:cNvSpPr txBox="1"/>
          <p:nvPr/>
        </p:nvSpPr>
        <p:spPr>
          <a:xfrm>
            <a:off x="959099" y="2320848"/>
            <a:ext cx="22168946" cy="661720"/>
          </a:xfrm>
          <a:prstGeom prst="rect">
            <a:avLst/>
          </a:prstGeom>
          <a:noFill/>
          <a:ln>
            <a:noFill/>
          </a:ln>
        </p:spPr>
        <p:txBody>
          <a:bodyPr wrap="square" rtlCol="0">
            <a:spAutoFit/>
          </a:bodyPr>
          <a:lstStyle/>
          <a:p>
            <a:pPr rtl="0"/>
            <a:r>
              <a:rPr lang="en-US" sz="37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Relationship between shipping days Vs review scores.</a:t>
            </a:r>
          </a:p>
        </p:txBody>
      </p:sp>
      <p:sp>
        <p:nvSpPr>
          <p:cNvPr id="3" name="TextBox 2">
            <a:extLst>
              <a:ext uri="{FF2B5EF4-FFF2-40B4-BE49-F238E27FC236}">
                <a16:creationId xmlns:a16="http://schemas.microsoft.com/office/drawing/2014/main" id="{BB9B0108-F3A7-3C81-8FDF-B9078999F3BC}"/>
              </a:ext>
            </a:extLst>
          </p:cNvPr>
          <p:cNvSpPr txBox="1"/>
          <p:nvPr/>
        </p:nvSpPr>
        <p:spPr>
          <a:xfrm>
            <a:off x="959099" y="3252041"/>
            <a:ext cx="13223066" cy="9503627"/>
          </a:xfrm>
          <a:prstGeom prst="rect">
            <a:avLst/>
          </a:prstGeom>
          <a:noFill/>
          <a:ln>
            <a:noFill/>
          </a:ln>
        </p:spPr>
        <p:txBody>
          <a:bodyPr wrap="square" rtlCol="0">
            <a:sp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4000" i="0" u="none" strike="noStrike" cap="none" normalizeH="0" baseline="0" dirty="0">
              <a:ln>
                <a:noFill/>
              </a:ln>
              <a:effectLst/>
            </a:endParaRPr>
          </a:p>
          <a:p>
            <a:pPr marL="571500" marR="0" lvl="0" indent="-571500" algn="just" fontAlgn="base">
              <a:lnSpc>
                <a:spcPct val="90000"/>
              </a:lnSpc>
              <a:spcBef>
                <a:spcPts val="1000"/>
              </a:spcBef>
              <a:spcAft>
                <a:spcPts val="600"/>
              </a:spcAft>
              <a:buClrTx/>
              <a:buSzTx/>
              <a:buFont typeface="Arial" panose="020B0604020202020204" pitchFamily="34" charset="0"/>
              <a:buChar char="•"/>
              <a:tabLst/>
            </a:pPr>
            <a:r>
              <a:rPr lang="en-US" altLang="en-US" sz="3700" dirty="0">
                <a:solidFill>
                  <a:schemeClr val="tx2"/>
                </a:solidFill>
                <a:latin typeface="Montserrat Medium" pitchFamily="2" charset="77"/>
                <a:ea typeface="Roboto Medium" panose="02000000000000000000" pitchFamily="2" charset="0"/>
                <a:cs typeface="Lato Light" panose="020F0502020204030203" pitchFamily="34" charset="0"/>
              </a:rPr>
              <a:t>As average delivery days decrease, the review scores increase.</a:t>
            </a:r>
          </a:p>
          <a:p>
            <a:pPr marR="0" lvl="0" algn="just" fontAlgn="base">
              <a:lnSpc>
                <a:spcPct val="90000"/>
              </a:lnSpc>
              <a:spcBef>
                <a:spcPts val="1000"/>
              </a:spcBef>
              <a:spcAft>
                <a:spcPts val="600"/>
              </a:spcAft>
              <a:buClrTx/>
              <a:buSzTx/>
              <a:tabLst/>
            </a:pPr>
            <a:endParaRPr lang="en-US" altLang="en-US" sz="3700"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marR="0" lvl="0" indent="-571500" algn="just" fontAlgn="base">
              <a:lnSpc>
                <a:spcPct val="90000"/>
              </a:lnSpc>
              <a:spcBef>
                <a:spcPts val="1000"/>
              </a:spcBef>
              <a:spcAft>
                <a:spcPts val="600"/>
              </a:spcAft>
              <a:buClrTx/>
              <a:buSzTx/>
              <a:buFont typeface="Arial" panose="020B0604020202020204" pitchFamily="34" charset="0"/>
              <a:buChar char="•"/>
              <a:tabLst/>
            </a:pPr>
            <a:r>
              <a:rPr lang="en-US" altLang="en-US" sz="3700" dirty="0">
                <a:solidFill>
                  <a:schemeClr val="tx2"/>
                </a:solidFill>
                <a:latin typeface="Montserrat Medium" pitchFamily="2" charset="77"/>
                <a:ea typeface="Roboto Medium" panose="02000000000000000000" pitchFamily="2" charset="0"/>
                <a:cs typeface="Lato Light" panose="020F0502020204030203" pitchFamily="34" charset="0"/>
              </a:rPr>
              <a:t>This suggests that faster deliveries lead to better customer ratings. </a:t>
            </a:r>
          </a:p>
          <a:p>
            <a:pPr marR="0" lvl="0" algn="just" fontAlgn="base">
              <a:lnSpc>
                <a:spcPct val="90000"/>
              </a:lnSpc>
              <a:spcBef>
                <a:spcPts val="1000"/>
              </a:spcBef>
              <a:spcAft>
                <a:spcPts val="600"/>
              </a:spcAft>
              <a:buClrTx/>
              <a:buSzTx/>
              <a:tabLst/>
            </a:pPr>
            <a:endParaRPr lang="en-US" altLang="en-US" sz="3700"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marR="0" lvl="0" indent="-571500" algn="just" fontAlgn="base">
              <a:lnSpc>
                <a:spcPct val="90000"/>
              </a:lnSpc>
              <a:spcBef>
                <a:spcPts val="1000"/>
              </a:spcBef>
              <a:spcAft>
                <a:spcPts val="600"/>
              </a:spcAft>
              <a:buClrTx/>
              <a:buSzTx/>
              <a:buFont typeface="Arial" panose="020B0604020202020204" pitchFamily="34" charset="0"/>
              <a:buChar char="•"/>
              <a:tabLst/>
            </a:pPr>
            <a:r>
              <a:rPr lang="en-US" altLang="en-US" sz="3700" dirty="0">
                <a:solidFill>
                  <a:schemeClr val="tx2"/>
                </a:solidFill>
                <a:latin typeface="Montserrat Medium" pitchFamily="2" charset="77"/>
                <a:ea typeface="Roboto Medium" panose="02000000000000000000" pitchFamily="2" charset="0"/>
                <a:cs typeface="Lato Light" panose="020F0502020204030203" pitchFamily="34" charset="0"/>
              </a:rPr>
              <a:t>If a company wants higher customer satisfaction , optimizing delivery time can significantly  impact rating.</a:t>
            </a:r>
          </a:p>
          <a:p>
            <a:pPr marR="0" lvl="0" algn="just" fontAlgn="base">
              <a:lnSpc>
                <a:spcPct val="90000"/>
              </a:lnSpc>
              <a:spcBef>
                <a:spcPts val="1000"/>
              </a:spcBef>
              <a:spcAft>
                <a:spcPts val="600"/>
              </a:spcAft>
              <a:buClrTx/>
              <a:buSzTx/>
              <a:tabLst/>
            </a:pPr>
            <a:endParaRPr lang="en-US" altLang="en-US" sz="3700" dirty="0">
              <a:solidFill>
                <a:schemeClr val="tx2"/>
              </a:solidFill>
              <a:latin typeface="Montserrat Medium" pitchFamily="2" charset="77"/>
              <a:ea typeface="Roboto Medium" panose="02000000000000000000" pitchFamily="2" charset="0"/>
              <a:cs typeface="Lato Light" panose="020F0502020204030203" pitchFamily="34" charset="0"/>
            </a:endParaRPr>
          </a:p>
          <a:p>
            <a:pPr marL="571500" marR="0" lvl="0" indent="-571500" algn="just" fontAlgn="base">
              <a:lnSpc>
                <a:spcPct val="90000"/>
              </a:lnSpc>
              <a:spcBef>
                <a:spcPts val="1000"/>
              </a:spcBef>
              <a:spcAft>
                <a:spcPts val="600"/>
              </a:spcAft>
              <a:buClrTx/>
              <a:buSzTx/>
              <a:buFont typeface="Arial" panose="020B0604020202020204" pitchFamily="34" charset="0"/>
              <a:buChar char="•"/>
              <a:tabLst/>
            </a:pPr>
            <a:r>
              <a:rPr lang="en-US" altLang="en-US" sz="3700" dirty="0">
                <a:solidFill>
                  <a:schemeClr val="tx2"/>
                </a:solidFill>
                <a:latin typeface="Montserrat Medium" pitchFamily="2" charset="77"/>
                <a:ea typeface="Roboto Medium" panose="02000000000000000000" pitchFamily="2" charset="0"/>
                <a:cs typeface="Lato Light" panose="020F0502020204030203" pitchFamily="34" charset="0"/>
              </a:rPr>
              <a:t>Implementing faster shipping methods, better logistics and real-time tracking may help reduce delivery time</a:t>
            </a:r>
          </a:p>
          <a:p>
            <a:pPr algn="just" fontAlgn="base">
              <a:lnSpc>
                <a:spcPct val="90000"/>
              </a:lnSpc>
              <a:spcBef>
                <a:spcPts val="1000"/>
              </a:spcBef>
              <a:spcAft>
                <a:spcPts val="600"/>
              </a:spcAft>
            </a:pPr>
            <a:endPar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endParaRPr>
          </a:p>
        </p:txBody>
      </p:sp>
      <p:pic>
        <p:nvPicPr>
          <p:cNvPr id="7" name="Picture 6">
            <a:extLst>
              <a:ext uri="{FF2B5EF4-FFF2-40B4-BE49-F238E27FC236}">
                <a16:creationId xmlns:a16="http://schemas.microsoft.com/office/drawing/2014/main" id="{B6BD621C-124E-2B12-7223-7DDE592A7BD1}"/>
              </a:ext>
            </a:extLst>
          </p:cNvPr>
          <p:cNvPicPr>
            <a:picLocks noChangeAspect="1"/>
          </p:cNvPicPr>
          <p:nvPr/>
        </p:nvPicPr>
        <p:blipFill>
          <a:blip r:embed="rId2"/>
          <a:stretch>
            <a:fillRect/>
          </a:stretch>
        </p:blipFill>
        <p:spPr>
          <a:xfrm>
            <a:off x="14755906" y="4263296"/>
            <a:ext cx="9126070" cy="6404703"/>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1997717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1C6E13-E10E-7550-B386-F0680AF3483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357BA47-11EC-1F3E-2C41-B7F1F115E474}"/>
              </a:ext>
            </a:extLst>
          </p:cNvPr>
          <p:cNvSpPr txBox="1"/>
          <p:nvPr/>
        </p:nvSpPr>
        <p:spPr>
          <a:xfrm>
            <a:off x="833593" y="727936"/>
            <a:ext cx="9573304"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Excel Dashboard</a:t>
            </a:r>
          </a:p>
        </p:txBody>
      </p:sp>
      <p:sp>
        <p:nvSpPr>
          <p:cNvPr id="8" name="Rectangle 7">
            <a:extLst>
              <a:ext uri="{FF2B5EF4-FFF2-40B4-BE49-F238E27FC236}">
                <a16:creationId xmlns:a16="http://schemas.microsoft.com/office/drawing/2014/main" id="{D0F396C7-C841-5DC1-7FEB-0B742054AC63}"/>
              </a:ext>
            </a:extLst>
          </p:cNvPr>
          <p:cNvSpPr/>
          <p:nvPr/>
        </p:nvSpPr>
        <p:spPr>
          <a:xfrm rot="10800000" flipV="1">
            <a:off x="10406896" y="1389654"/>
            <a:ext cx="13970752" cy="2060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DBFD2202-2140-430C-46C6-6074AE62B5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593" y="2257402"/>
            <a:ext cx="22256195" cy="10327621"/>
          </a:xfrm>
          <a:prstGeom prst="rect">
            <a:avLst/>
          </a:prstGeom>
        </p:spPr>
      </p:pic>
    </p:spTree>
    <p:extLst>
      <p:ext uri="{BB962C8B-B14F-4D97-AF65-F5344CB8AC3E}">
        <p14:creationId xmlns:p14="http://schemas.microsoft.com/office/powerpoint/2010/main" val="3172476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4CA927-EA72-E9DA-0535-9CBB2F261FC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48042E9-559E-05A4-3AFE-5A2947248EEA}"/>
              </a:ext>
            </a:extLst>
          </p:cNvPr>
          <p:cNvSpPr txBox="1"/>
          <p:nvPr/>
        </p:nvSpPr>
        <p:spPr>
          <a:xfrm>
            <a:off x="833593" y="727936"/>
            <a:ext cx="9573304"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Excel Dashboard</a:t>
            </a:r>
          </a:p>
        </p:txBody>
      </p:sp>
      <p:sp>
        <p:nvSpPr>
          <p:cNvPr id="6" name="Rectangle 5">
            <a:extLst>
              <a:ext uri="{FF2B5EF4-FFF2-40B4-BE49-F238E27FC236}">
                <a16:creationId xmlns:a16="http://schemas.microsoft.com/office/drawing/2014/main" id="{2F839FAD-F3EC-FE9E-5A43-4D1E1C671B42}"/>
              </a:ext>
            </a:extLst>
          </p:cNvPr>
          <p:cNvSpPr/>
          <p:nvPr/>
        </p:nvSpPr>
        <p:spPr>
          <a:xfrm rot="10800000" flipV="1">
            <a:off x="10406896" y="1389654"/>
            <a:ext cx="13970752" cy="2060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49B5ABA1-C261-361D-1216-4720129015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592" y="2426072"/>
            <a:ext cx="22848369" cy="10561992"/>
          </a:xfrm>
          <a:prstGeom prst="rect">
            <a:avLst/>
          </a:prstGeom>
        </p:spPr>
      </p:pic>
    </p:spTree>
    <p:extLst>
      <p:ext uri="{BB962C8B-B14F-4D97-AF65-F5344CB8AC3E}">
        <p14:creationId xmlns:p14="http://schemas.microsoft.com/office/powerpoint/2010/main" val="1654180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584BDF-52F5-CE73-57CB-D63A319332D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C94D649-77E2-384A-931F-423BE15E1F34}"/>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Power BI Dashboard</a:t>
            </a:r>
          </a:p>
        </p:txBody>
      </p:sp>
      <p:sp>
        <p:nvSpPr>
          <p:cNvPr id="6" name="Rectangle 5">
            <a:extLst>
              <a:ext uri="{FF2B5EF4-FFF2-40B4-BE49-F238E27FC236}">
                <a16:creationId xmlns:a16="http://schemas.microsoft.com/office/drawing/2014/main" id="{4641534A-03E9-BE7A-3A29-D3790E5285FB}"/>
              </a:ext>
            </a:extLst>
          </p:cNvPr>
          <p:cNvSpPr/>
          <p:nvPr/>
        </p:nvSpPr>
        <p:spPr>
          <a:xfrm rot="10800000" flipV="1">
            <a:off x="11887200" y="1389653"/>
            <a:ext cx="12490448" cy="2060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D5127D15-60F7-1083-F936-621C8C79A716}"/>
              </a:ext>
            </a:extLst>
          </p:cNvPr>
          <p:cNvPicPr>
            <a:picLocks noChangeAspect="1"/>
          </p:cNvPicPr>
          <p:nvPr/>
        </p:nvPicPr>
        <p:blipFill>
          <a:blip r:embed="rId2"/>
          <a:stretch>
            <a:fillRect/>
          </a:stretch>
        </p:blipFill>
        <p:spPr>
          <a:xfrm>
            <a:off x="963216" y="2051375"/>
            <a:ext cx="21699559" cy="11459451"/>
          </a:xfrm>
          <a:prstGeom prst="rect">
            <a:avLst/>
          </a:prstGeom>
        </p:spPr>
      </p:pic>
    </p:spTree>
    <p:extLst>
      <p:ext uri="{BB962C8B-B14F-4D97-AF65-F5344CB8AC3E}">
        <p14:creationId xmlns:p14="http://schemas.microsoft.com/office/powerpoint/2010/main" val="467148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58EBE8-B92E-B20B-DA11-6511955A931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EE5902A-8C29-49D8-9FE5-A7AA9C862DF3}"/>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Power BI Dashboard</a:t>
            </a:r>
          </a:p>
        </p:txBody>
      </p:sp>
      <p:sp>
        <p:nvSpPr>
          <p:cNvPr id="6" name="Rectangle 5">
            <a:extLst>
              <a:ext uri="{FF2B5EF4-FFF2-40B4-BE49-F238E27FC236}">
                <a16:creationId xmlns:a16="http://schemas.microsoft.com/office/drawing/2014/main" id="{3253F98D-74C0-9247-2625-17383C268FC5}"/>
              </a:ext>
            </a:extLst>
          </p:cNvPr>
          <p:cNvSpPr/>
          <p:nvPr/>
        </p:nvSpPr>
        <p:spPr>
          <a:xfrm rot="10800000" flipV="1">
            <a:off x="11887200" y="1389653"/>
            <a:ext cx="12490448" cy="2060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C9412B81-6A5A-B4BF-4F83-70FF613FED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013" y="2242553"/>
            <a:ext cx="21751552" cy="11094924"/>
          </a:xfrm>
          <a:prstGeom prst="rect">
            <a:avLst/>
          </a:prstGeom>
        </p:spPr>
      </p:pic>
    </p:spTree>
    <p:extLst>
      <p:ext uri="{BB962C8B-B14F-4D97-AF65-F5344CB8AC3E}">
        <p14:creationId xmlns:p14="http://schemas.microsoft.com/office/powerpoint/2010/main" val="3605296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AF3F50-162E-872E-9521-41A98A33F0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DA2F312-3958-F9EB-EEEB-A7F2DCE2A544}"/>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Tableau Dashboard</a:t>
            </a:r>
          </a:p>
        </p:txBody>
      </p:sp>
      <p:sp>
        <p:nvSpPr>
          <p:cNvPr id="6" name="Rectangle 5">
            <a:extLst>
              <a:ext uri="{FF2B5EF4-FFF2-40B4-BE49-F238E27FC236}">
                <a16:creationId xmlns:a16="http://schemas.microsoft.com/office/drawing/2014/main" id="{6A3F55ED-F7A3-5C3F-A736-85A64B9C2215}"/>
              </a:ext>
            </a:extLst>
          </p:cNvPr>
          <p:cNvSpPr/>
          <p:nvPr/>
        </p:nvSpPr>
        <p:spPr>
          <a:xfrm rot="10800000" flipV="1">
            <a:off x="11887200" y="1389653"/>
            <a:ext cx="12490448" cy="2060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FDF9976A-C7E7-2375-1041-F3D9E3F6B503}"/>
              </a:ext>
            </a:extLst>
          </p:cNvPr>
          <p:cNvPicPr>
            <a:picLocks noChangeAspect="1"/>
          </p:cNvPicPr>
          <p:nvPr/>
        </p:nvPicPr>
        <p:blipFill>
          <a:blip r:embed="rId2"/>
          <a:stretch>
            <a:fillRect/>
          </a:stretch>
        </p:blipFill>
        <p:spPr>
          <a:xfrm>
            <a:off x="1060708" y="2051375"/>
            <a:ext cx="21978585" cy="11162602"/>
          </a:xfrm>
          <a:prstGeom prst="rect">
            <a:avLst/>
          </a:prstGeom>
        </p:spPr>
      </p:pic>
    </p:spTree>
    <p:extLst>
      <p:ext uri="{BB962C8B-B14F-4D97-AF65-F5344CB8AC3E}">
        <p14:creationId xmlns:p14="http://schemas.microsoft.com/office/powerpoint/2010/main" val="489402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725DCE-3D45-31F4-958A-2E33C9F301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9170BD7-E557-98B5-A608-9DF752E08E30}"/>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MySQL Queries</a:t>
            </a:r>
          </a:p>
        </p:txBody>
      </p:sp>
      <p:sp>
        <p:nvSpPr>
          <p:cNvPr id="6" name="Rectangle 5">
            <a:extLst>
              <a:ext uri="{FF2B5EF4-FFF2-40B4-BE49-F238E27FC236}">
                <a16:creationId xmlns:a16="http://schemas.microsoft.com/office/drawing/2014/main" id="{AB12E434-56F6-5F77-73F5-C084FEB3F036}"/>
              </a:ext>
            </a:extLst>
          </p:cNvPr>
          <p:cNvSpPr/>
          <p:nvPr/>
        </p:nvSpPr>
        <p:spPr>
          <a:xfrm rot="10800000" flipV="1">
            <a:off x="9251576" y="1389653"/>
            <a:ext cx="15126072"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8BE292C9-69D9-471A-EFD8-1F7DA48BC2C1}"/>
              </a:ext>
            </a:extLst>
          </p:cNvPr>
          <p:cNvSpPr txBox="1"/>
          <p:nvPr/>
        </p:nvSpPr>
        <p:spPr>
          <a:xfrm>
            <a:off x="833593" y="2290544"/>
            <a:ext cx="21363019"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KPI 1: Weekday Vs Weekend (</a:t>
            </a:r>
            <a:r>
              <a:rPr lang="en-US" sz="4000" b="1" dirty="0" err="1">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order_purchase</a:t>
            </a:r>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 timestamp) payment statistics</a:t>
            </a:r>
          </a:p>
        </p:txBody>
      </p:sp>
      <p:pic>
        <p:nvPicPr>
          <p:cNvPr id="7" name="Picture 6">
            <a:extLst>
              <a:ext uri="{FF2B5EF4-FFF2-40B4-BE49-F238E27FC236}">
                <a16:creationId xmlns:a16="http://schemas.microsoft.com/office/drawing/2014/main" id="{73D05C49-9C07-3291-E528-05F2174A00CD}"/>
              </a:ext>
            </a:extLst>
          </p:cNvPr>
          <p:cNvPicPr>
            <a:picLocks noChangeAspect="1"/>
          </p:cNvPicPr>
          <p:nvPr/>
        </p:nvPicPr>
        <p:blipFill>
          <a:blip r:embed="rId2"/>
          <a:stretch>
            <a:fillRect/>
          </a:stretch>
        </p:blipFill>
        <p:spPr>
          <a:xfrm>
            <a:off x="833593" y="3489796"/>
            <a:ext cx="22295348" cy="8884329"/>
          </a:xfrm>
          <a:prstGeom prst="rect">
            <a:avLst/>
          </a:prstGeom>
        </p:spPr>
      </p:pic>
    </p:spTree>
    <p:extLst>
      <p:ext uri="{BB962C8B-B14F-4D97-AF65-F5344CB8AC3E}">
        <p14:creationId xmlns:p14="http://schemas.microsoft.com/office/powerpoint/2010/main" val="2793853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CA2F4D-17B9-4DA6-8320-F98353C63F9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4E1715F-94CC-2FDA-A49D-70792E775042}"/>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MySQL Queries</a:t>
            </a:r>
          </a:p>
        </p:txBody>
      </p:sp>
      <p:sp>
        <p:nvSpPr>
          <p:cNvPr id="6" name="Rectangle 5">
            <a:extLst>
              <a:ext uri="{FF2B5EF4-FFF2-40B4-BE49-F238E27FC236}">
                <a16:creationId xmlns:a16="http://schemas.microsoft.com/office/drawing/2014/main" id="{8619D519-BF9B-4E2D-3E8B-FCCA98497A5E}"/>
              </a:ext>
            </a:extLst>
          </p:cNvPr>
          <p:cNvSpPr/>
          <p:nvPr/>
        </p:nvSpPr>
        <p:spPr>
          <a:xfrm rot="10800000" flipV="1">
            <a:off x="9251576" y="1389653"/>
            <a:ext cx="15126072"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DC569125-642B-A154-6091-83E0F2A61C19}"/>
              </a:ext>
            </a:extLst>
          </p:cNvPr>
          <p:cNvSpPr txBox="1"/>
          <p:nvPr/>
        </p:nvSpPr>
        <p:spPr>
          <a:xfrm>
            <a:off x="833593" y="2290544"/>
            <a:ext cx="21363019"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KPI 2: Average </a:t>
            </a:r>
            <a:r>
              <a:rPr lang="en-US" sz="4000" b="1" dirty="0" err="1">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payment_value</a:t>
            </a:r>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 : Weekday Vs Weekend</a:t>
            </a:r>
          </a:p>
        </p:txBody>
      </p:sp>
      <p:pic>
        <p:nvPicPr>
          <p:cNvPr id="4" name="Picture 3">
            <a:extLst>
              <a:ext uri="{FF2B5EF4-FFF2-40B4-BE49-F238E27FC236}">
                <a16:creationId xmlns:a16="http://schemas.microsoft.com/office/drawing/2014/main" id="{8BCACB1B-86FB-EDF5-E39B-7255035A655D}"/>
              </a:ext>
            </a:extLst>
          </p:cNvPr>
          <p:cNvPicPr>
            <a:picLocks noChangeAspect="1"/>
          </p:cNvPicPr>
          <p:nvPr/>
        </p:nvPicPr>
        <p:blipFill>
          <a:blip r:embed="rId2"/>
          <a:stretch>
            <a:fillRect/>
          </a:stretch>
        </p:blipFill>
        <p:spPr>
          <a:xfrm>
            <a:off x="833592" y="3299151"/>
            <a:ext cx="22512307" cy="8856989"/>
          </a:xfrm>
          <a:prstGeom prst="rect">
            <a:avLst/>
          </a:prstGeom>
        </p:spPr>
      </p:pic>
    </p:spTree>
    <p:extLst>
      <p:ext uri="{BB962C8B-B14F-4D97-AF65-F5344CB8AC3E}">
        <p14:creationId xmlns:p14="http://schemas.microsoft.com/office/powerpoint/2010/main" val="2536833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7A4D66-9332-DA44-1DDB-7D6FBD95D00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DA87879-BE22-54BE-A671-377CA0F03BED}"/>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MySQL Queries</a:t>
            </a:r>
          </a:p>
        </p:txBody>
      </p:sp>
      <p:sp>
        <p:nvSpPr>
          <p:cNvPr id="6" name="Rectangle 5">
            <a:extLst>
              <a:ext uri="{FF2B5EF4-FFF2-40B4-BE49-F238E27FC236}">
                <a16:creationId xmlns:a16="http://schemas.microsoft.com/office/drawing/2014/main" id="{460E22D6-ABFD-51CC-4D32-FCC09809E3BF}"/>
              </a:ext>
            </a:extLst>
          </p:cNvPr>
          <p:cNvSpPr/>
          <p:nvPr/>
        </p:nvSpPr>
        <p:spPr>
          <a:xfrm rot="10800000" flipV="1">
            <a:off x="9251576" y="1389653"/>
            <a:ext cx="15126072"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E30ADFD2-A6E6-C582-A824-D50EEF641465}"/>
              </a:ext>
            </a:extLst>
          </p:cNvPr>
          <p:cNvSpPr txBox="1"/>
          <p:nvPr/>
        </p:nvSpPr>
        <p:spPr>
          <a:xfrm>
            <a:off x="833593" y="2257402"/>
            <a:ext cx="21363019"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KPI 3: Total Number of Orders with review score 5 and payment type as credit card</a:t>
            </a:r>
          </a:p>
        </p:txBody>
      </p:sp>
      <p:pic>
        <p:nvPicPr>
          <p:cNvPr id="7" name="Picture 6">
            <a:extLst>
              <a:ext uri="{FF2B5EF4-FFF2-40B4-BE49-F238E27FC236}">
                <a16:creationId xmlns:a16="http://schemas.microsoft.com/office/drawing/2014/main" id="{108E3597-9990-A6E1-D75D-A9EDB7A240DF}"/>
              </a:ext>
            </a:extLst>
          </p:cNvPr>
          <p:cNvPicPr>
            <a:picLocks noChangeAspect="1"/>
          </p:cNvPicPr>
          <p:nvPr/>
        </p:nvPicPr>
        <p:blipFill>
          <a:blip r:embed="rId2"/>
          <a:stretch>
            <a:fillRect/>
          </a:stretch>
        </p:blipFill>
        <p:spPr>
          <a:xfrm>
            <a:off x="833593" y="3550910"/>
            <a:ext cx="21865559" cy="8470606"/>
          </a:xfrm>
          <a:prstGeom prst="rect">
            <a:avLst/>
          </a:prstGeom>
        </p:spPr>
      </p:pic>
    </p:spTree>
    <p:extLst>
      <p:ext uri="{BB962C8B-B14F-4D97-AF65-F5344CB8AC3E}">
        <p14:creationId xmlns:p14="http://schemas.microsoft.com/office/powerpoint/2010/main" val="1296693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800D35-AB7D-2F7E-8465-C4F2108C102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FD50490-5834-65A1-08B9-A7C64F26EAC8}"/>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MySQL Queries</a:t>
            </a:r>
          </a:p>
        </p:txBody>
      </p:sp>
      <p:sp>
        <p:nvSpPr>
          <p:cNvPr id="6" name="Rectangle 5">
            <a:extLst>
              <a:ext uri="{FF2B5EF4-FFF2-40B4-BE49-F238E27FC236}">
                <a16:creationId xmlns:a16="http://schemas.microsoft.com/office/drawing/2014/main" id="{6975CF8B-E19E-EEBC-7BEE-9298FB0ACDE8}"/>
              </a:ext>
            </a:extLst>
          </p:cNvPr>
          <p:cNvSpPr/>
          <p:nvPr/>
        </p:nvSpPr>
        <p:spPr>
          <a:xfrm rot="10800000" flipV="1">
            <a:off x="9251576" y="1389653"/>
            <a:ext cx="15126072"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028FEE61-1B3A-3E6A-41FE-8B9E57BA0DE7}"/>
              </a:ext>
            </a:extLst>
          </p:cNvPr>
          <p:cNvSpPr txBox="1"/>
          <p:nvPr/>
        </p:nvSpPr>
        <p:spPr>
          <a:xfrm>
            <a:off x="833593" y="2257402"/>
            <a:ext cx="22710464"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KPI 4: Average number of days taken for </a:t>
            </a:r>
            <a:r>
              <a:rPr lang="en-US" sz="4000" b="1" dirty="0" err="1">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order_delivered_customer_date</a:t>
            </a:r>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 for </a:t>
            </a:r>
            <a:r>
              <a:rPr lang="en-US" sz="4000" b="1" dirty="0" err="1">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pet_shop</a:t>
            </a:r>
            <a:endPar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endParaRPr>
          </a:p>
        </p:txBody>
      </p:sp>
      <p:pic>
        <p:nvPicPr>
          <p:cNvPr id="4" name="Picture 3">
            <a:extLst>
              <a:ext uri="{FF2B5EF4-FFF2-40B4-BE49-F238E27FC236}">
                <a16:creationId xmlns:a16="http://schemas.microsoft.com/office/drawing/2014/main" id="{28571C12-F7A8-9C46-4561-BEE93C19DCF7}"/>
              </a:ext>
            </a:extLst>
          </p:cNvPr>
          <p:cNvPicPr>
            <a:picLocks noChangeAspect="1"/>
          </p:cNvPicPr>
          <p:nvPr/>
        </p:nvPicPr>
        <p:blipFill>
          <a:blip r:embed="rId2"/>
          <a:stretch>
            <a:fillRect/>
          </a:stretch>
        </p:blipFill>
        <p:spPr>
          <a:xfrm>
            <a:off x="992854" y="3342763"/>
            <a:ext cx="21792581" cy="9645301"/>
          </a:xfrm>
          <a:prstGeom prst="rect">
            <a:avLst/>
          </a:prstGeom>
        </p:spPr>
      </p:pic>
    </p:spTree>
    <p:extLst>
      <p:ext uri="{BB962C8B-B14F-4D97-AF65-F5344CB8AC3E}">
        <p14:creationId xmlns:p14="http://schemas.microsoft.com/office/powerpoint/2010/main" val="2729382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07B94E-65BA-796F-9CAB-415E7A057D8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A33E6AF-CC5C-366C-02F7-F801DABEFCCC}"/>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MySQL Queries</a:t>
            </a:r>
          </a:p>
        </p:txBody>
      </p:sp>
      <p:sp>
        <p:nvSpPr>
          <p:cNvPr id="6" name="Rectangle 5">
            <a:extLst>
              <a:ext uri="{FF2B5EF4-FFF2-40B4-BE49-F238E27FC236}">
                <a16:creationId xmlns:a16="http://schemas.microsoft.com/office/drawing/2014/main" id="{5D9B3FBF-480E-7B70-519D-5EC5D27083F8}"/>
              </a:ext>
            </a:extLst>
          </p:cNvPr>
          <p:cNvSpPr/>
          <p:nvPr/>
        </p:nvSpPr>
        <p:spPr>
          <a:xfrm rot="10800000" flipV="1">
            <a:off x="9251576" y="1389653"/>
            <a:ext cx="15126072"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EA1C6885-FBC0-454B-8C9B-71A62B16B545}"/>
              </a:ext>
            </a:extLst>
          </p:cNvPr>
          <p:cNvSpPr txBox="1"/>
          <p:nvPr/>
        </p:nvSpPr>
        <p:spPr>
          <a:xfrm>
            <a:off x="833593" y="2257402"/>
            <a:ext cx="22710464"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KPI 5: Average price and payment values from customers of </a:t>
            </a:r>
            <a:r>
              <a:rPr lang="en-US" sz="4000" b="1" dirty="0" err="1">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sao</a:t>
            </a:r>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 </a:t>
            </a:r>
            <a:r>
              <a:rPr lang="en-US" sz="4000" b="1" dirty="0" err="1">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paulo</a:t>
            </a:r>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 city </a:t>
            </a:r>
          </a:p>
        </p:txBody>
      </p:sp>
      <p:pic>
        <p:nvPicPr>
          <p:cNvPr id="7" name="Picture 6">
            <a:extLst>
              <a:ext uri="{FF2B5EF4-FFF2-40B4-BE49-F238E27FC236}">
                <a16:creationId xmlns:a16="http://schemas.microsoft.com/office/drawing/2014/main" id="{A3634746-5230-7225-FB0F-63AFD4A11D7C}"/>
              </a:ext>
            </a:extLst>
          </p:cNvPr>
          <p:cNvPicPr>
            <a:picLocks noChangeAspect="1"/>
          </p:cNvPicPr>
          <p:nvPr/>
        </p:nvPicPr>
        <p:blipFill>
          <a:blip r:embed="rId2"/>
          <a:stretch>
            <a:fillRect/>
          </a:stretch>
        </p:blipFill>
        <p:spPr>
          <a:xfrm>
            <a:off x="833592" y="3171315"/>
            <a:ext cx="12954125" cy="10133586"/>
          </a:xfrm>
          <a:prstGeom prst="rect">
            <a:avLst/>
          </a:prstGeom>
        </p:spPr>
      </p:pic>
    </p:spTree>
    <p:extLst>
      <p:ext uri="{BB962C8B-B14F-4D97-AF65-F5344CB8AC3E}">
        <p14:creationId xmlns:p14="http://schemas.microsoft.com/office/powerpoint/2010/main" val="890077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E79862-88A3-57F3-EAAA-483C5BF6A09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1A5788D-A691-E52E-31F6-4F948BCC7B7C}"/>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MySQL Queries</a:t>
            </a:r>
          </a:p>
        </p:txBody>
      </p:sp>
      <p:sp>
        <p:nvSpPr>
          <p:cNvPr id="6" name="Rectangle 5">
            <a:extLst>
              <a:ext uri="{FF2B5EF4-FFF2-40B4-BE49-F238E27FC236}">
                <a16:creationId xmlns:a16="http://schemas.microsoft.com/office/drawing/2014/main" id="{BF8BD0B8-8E2C-B630-7B26-3B9BCA3F3569}"/>
              </a:ext>
            </a:extLst>
          </p:cNvPr>
          <p:cNvSpPr/>
          <p:nvPr/>
        </p:nvSpPr>
        <p:spPr>
          <a:xfrm rot="10800000" flipV="1">
            <a:off x="9251576" y="1389653"/>
            <a:ext cx="15126072"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7CAB7570-11DA-F62E-44EE-84B8360A7F37}"/>
              </a:ext>
            </a:extLst>
          </p:cNvPr>
          <p:cNvSpPr txBox="1"/>
          <p:nvPr/>
        </p:nvSpPr>
        <p:spPr>
          <a:xfrm>
            <a:off x="833593" y="2257402"/>
            <a:ext cx="22710464"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KPI 6: Relationship between shipping days Vs review scores </a:t>
            </a:r>
          </a:p>
        </p:txBody>
      </p:sp>
      <p:pic>
        <p:nvPicPr>
          <p:cNvPr id="4" name="Picture 3">
            <a:extLst>
              <a:ext uri="{FF2B5EF4-FFF2-40B4-BE49-F238E27FC236}">
                <a16:creationId xmlns:a16="http://schemas.microsoft.com/office/drawing/2014/main" id="{D85A33B5-0181-3566-F521-6DF9ABF09E39}"/>
              </a:ext>
            </a:extLst>
          </p:cNvPr>
          <p:cNvPicPr>
            <a:picLocks noChangeAspect="1"/>
          </p:cNvPicPr>
          <p:nvPr/>
        </p:nvPicPr>
        <p:blipFill>
          <a:blip r:embed="rId2"/>
          <a:stretch>
            <a:fillRect/>
          </a:stretch>
        </p:blipFill>
        <p:spPr>
          <a:xfrm>
            <a:off x="978814" y="3306772"/>
            <a:ext cx="20213751" cy="9801882"/>
          </a:xfrm>
          <a:prstGeom prst="rect">
            <a:avLst/>
          </a:prstGeom>
        </p:spPr>
      </p:pic>
    </p:spTree>
    <p:extLst>
      <p:ext uri="{BB962C8B-B14F-4D97-AF65-F5344CB8AC3E}">
        <p14:creationId xmlns:p14="http://schemas.microsoft.com/office/powerpoint/2010/main" val="3874270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6EA5F5-E839-E867-1D35-194DF38F4BE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457D275-5306-E6EF-5A4C-77129A1613C1}"/>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MySQL Queries</a:t>
            </a:r>
          </a:p>
        </p:txBody>
      </p:sp>
      <p:sp>
        <p:nvSpPr>
          <p:cNvPr id="6" name="Rectangle 5">
            <a:extLst>
              <a:ext uri="{FF2B5EF4-FFF2-40B4-BE49-F238E27FC236}">
                <a16:creationId xmlns:a16="http://schemas.microsoft.com/office/drawing/2014/main" id="{A67B763D-678C-C5C2-4EBB-B0D28B5E9572}"/>
              </a:ext>
            </a:extLst>
          </p:cNvPr>
          <p:cNvSpPr/>
          <p:nvPr/>
        </p:nvSpPr>
        <p:spPr>
          <a:xfrm rot="10800000" flipV="1">
            <a:off x="9251576" y="1389653"/>
            <a:ext cx="15126072"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E3638BCD-51F2-57B7-30B1-0DFE32C1B78B}"/>
              </a:ext>
            </a:extLst>
          </p:cNvPr>
          <p:cNvSpPr txBox="1"/>
          <p:nvPr/>
        </p:nvSpPr>
        <p:spPr>
          <a:xfrm>
            <a:off x="833593" y="2257402"/>
            <a:ext cx="22710464"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Total Unique Customers</a:t>
            </a:r>
          </a:p>
        </p:txBody>
      </p:sp>
      <p:pic>
        <p:nvPicPr>
          <p:cNvPr id="7" name="Picture 6">
            <a:extLst>
              <a:ext uri="{FF2B5EF4-FFF2-40B4-BE49-F238E27FC236}">
                <a16:creationId xmlns:a16="http://schemas.microsoft.com/office/drawing/2014/main" id="{4D0262CD-5AB0-6AD8-FF4C-DB513CC7656F}"/>
              </a:ext>
            </a:extLst>
          </p:cNvPr>
          <p:cNvPicPr>
            <a:picLocks noChangeAspect="1"/>
          </p:cNvPicPr>
          <p:nvPr/>
        </p:nvPicPr>
        <p:blipFill>
          <a:blip r:embed="rId2"/>
          <a:stretch>
            <a:fillRect/>
          </a:stretch>
        </p:blipFill>
        <p:spPr>
          <a:xfrm>
            <a:off x="833593" y="3338796"/>
            <a:ext cx="14531913" cy="5002538"/>
          </a:xfrm>
          <a:prstGeom prst="rect">
            <a:avLst/>
          </a:prstGeom>
        </p:spPr>
      </p:pic>
      <p:sp>
        <p:nvSpPr>
          <p:cNvPr id="8" name="TextBox 7">
            <a:extLst>
              <a:ext uri="{FF2B5EF4-FFF2-40B4-BE49-F238E27FC236}">
                <a16:creationId xmlns:a16="http://schemas.microsoft.com/office/drawing/2014/main" id="{9B302E14-F140-D124-7D58-AC6AA2073E5A}"/>
              </a:ext>
            </a:extLst>
          </p:cNvPr>
          <p:cNvSpPr txBox="1"/>
          <p:nvPr/>
        </p:nvSpPr>
        <p:spPr>
          <a:xfrm>
            <a:off x="985993" y="8714842"/>
            <a:ext cx="22710464"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Total Sales</a:t>
            </a:r>
          </a:p>
        </p:txBody>
      </p:sp>
      <p:pic>
        <p:nvPicPr>
          <p:cNvPr id="10" name="Picture 9">
            <a:extLst>
              <a:ext uri="{FF2B5EF4-FFF2-40B4-BE49-F238E27FC236}">
                <a16:creationId xmlns:a16="http://schemas.microsoft.com/office/drawing/2014/main" id="{16B33ED4-C456-8FE5-F1C3-5061DA17A253}"/>
              </a:ext>
            </a:extLst>
          </p:cNvPr>
          <p:cNvPicPr>
            <a:picLocks noChangeAspect="1"/>
          </p:cNvPicPr>
          <p:nvPr/>
        </p:nvPicPr>
        <p:blipFill>
          <a:blip r:embed="rId3"/>
          <a:stretch>
            <a:fillRect/>
          </a:stretch>
        </p:blipFill>
        <p:spPr>
          <a:xfrm>
            <a:off x="1141131" y="9796236"/>
            <a:ext cx="12234210" cy="3527097"/>
          </a:xfrm>
          <a:prstGeom prst="rect">
            <a:avLst/>
          </a:prstGeom>
        </p:spPr>
      </p:pic>
    </p:spTree>
    <p:extLst>
      <p:ext uri="{BB962C8B-B14F-4D97-AF65-F5344CB8AC3E}">
        <p14:creationId xmlns:p14="http://schemas.microsoft.com/office/powerpoint/2010/main" val="2100756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D3092F-EB77-560F-63AC-299600D3F55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61AE9FC-EA52-26DE-B6A2-B9BBF6311EBD}"/>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MySQL Queries</a:t>
            </a:r>
          </a:p>
        </p:txBody>
      </p:sp>
      <p:sp>
        <p:nvSpPr>
          <p:cNvPr id="6" name="Rectangle 5">
            <a:extLst>
              <a:ext uri="{FF2B5EF4-FFF2-40B4-BE49-F238E27FC236}">
                <a16:creationId xmlns:a16="http://schemas.microsoft.com/office/drawing/2014/main" id="{6F57EFE2-F755-30F1-8F0E-40DBC6BE3FD2}"/>
              </a:ext>
            </a:extLst>
          </p:cNvPr>
          <p:cNvSpPr/>
          <p:nvPr/>
        </p:nvSpPr>
        <p:spPr>
          <a:xfrm rot="10800000" flipV="1">
            <a:off x="9251576" y="1389653"/>
            <a:ext cx="15126072"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D8955801-175D-F83A-CD96-2A08737AE6FA}"/>
              </a:ext>
            </a:extLst>
          </p:cNvPr>
          <p:cNvSpPr txBox="1"/>
          <p:nvPr/>
        </p:nvSpPr>
        <p:spPr>
          <a:xfrm>
            <a:off x="833593" y="2257402"/>
            <a:ext cx="22710464"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Average Rating</a:t>
            </a:r>
          </a:p>
        </p:txBody>
      </p:sp>
      <p:sp>
        <p:nvSpPr>
          <p:cNvPr id="8" name="TextBox 7">
            <a:extLst>
              <a:ext uri="{FF2B5EF4-FFF2-40B4-BE49-F238E27FC236}">
                <a16:creationId xmlns:a16="http://schemas.microsoft.com/office/drawing/2014/main" id="{2F711C3B-7301-3B42-88A4-EA3A2DE1775B}"/>
              </a:ext>
            </a:extLst>
          </p:cNvPr>
          <p:cNvSpPr txBox="1"/>
          <p:nvPr/>
        </p:nvSpPr>
        <p:spPr>
          <a:xfrm>
            <a:off x="985992" y="7674936"/>
            <a:ext cx="22710464"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Total Profit</a:t>
            </a:r>
          </a:p>
        </p:txBody>
      </p:sp>
      <p:pic>
        <p:nvPicPr>
          <p:cNvPr id="4" name="Picture 3">
            <a:extLst>
              <a:ext uri="{FF2B5EF4-FFF2-40B4-BE49-F238E27FC236}">
                <a16:creationId xmlns:a16="http://schemas.microsoft.com/office/drawing/2014/main" id="{451EAF87-3946-E01B-F0A1-533CFCA8F664}"/>
              </a:ext>
            </a:extLst>
          </p:cNvPr>
          <p:cNvPicPr>
            <a:picLocks noChangeAspect="1"/>
          </p:cNvPicPr>
          <p:nvPr/>
        </p:nvPicPr>
        <p:blipFill>
          <a:blip r:embed="rId2"/>
          <a:stretch>
            <a:fillRect/>
          </a:stretch>
        </p:blipFill>
        <p:spPr>
          <a:xfrm>
            <a:off x="985992" y="2965288"/>
            <a:ext cx="13393395" cy="4217248"/>
          </a:xfrm>
          <a:prstGeom prst="rect">
            <a:avLst/>
          </a:prstGeom>
        </p:spPr>
      </p:pic>
      <p:pic>
        <p:nvPicPr>
          <p:cNvPr id="11" name="Picture 10">
            <a:extLst>
              <a:ext uri="{FF2B5EF4-FFF2-40B4-BE49-F238E27FC236}">
                <a16:creationId xmlns:a16="http://schemas.microsoft.com/office/drawing/2014/main" id="{29819933-48A3-39D4-B890-48B6A9F4CFF6}"/>
              </a:ext>
            </a:extLst>
          </p:cNvPr>
          <p:cNvPicPr>
            <a:picLocks noChangeAspect="1"/>
          </p:cNvPicPr>
          <p:nvPr/>
        </p:nvPicPr>
        <p:blipFill>
          <a:blip r:embed="rId3"/>
          <a:stretch>
            <a:fillRect/>
          </a:stretch>
        </p:blipFill>
        <p:spPr>
          <a:xfrm>
            <a:off x="985992" y="8607359"/>
            <a:ext cx="13415466" cy="4485111"/>
          </a:xfrm>
          <a:prstGeom prst="rect">
            <a:avLst/>
          </a:prstGeom>
        </p:spPr>
      </p:pic>
    </p:spTree>
    <p:extLst>
      <p:ext uri="{BB962C8B-B14F-4D97-AF65-F5344CB8AC3E}">
        <p14:creationId xmlns:p14="http://schemas.microsoft.com/office/powerpoint/2010/main" val="1004823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AEF089-5E2F-8EE1-2668-7E88A228E16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63EC9BE-D627-0057-47F7-42599E3B8A12}"/>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MySQL Queries</a:t>
            </a:r>
          </a:p>
        </p:txBody>
      </p:sp>
      <p:sp>
        <p:nvSpPr>
          <p:cNvPr id="6" name="Rectangle 5">
            <a:extLst>
              <a:ext uri="{FF2B5EF4-FFF2-40B4-BE49-F238E27FC236}">
                <a16:creationId xmlns:a16="http://schemas.microsoft.com/office/drawing/2014/main" id="{772F3CF9-2053-E511-E037-9460A05B0975}"/>
              </a:ext>
            </a:extLst>
          </p:cNvPr>
          <p:cNvSpPr/>
          <p:nvPr/>
        </p:nvSpPr>
        <p:spPr>
          <a:xfrm rot="10800000" flipV="1">
            <a:off x="9251576" y="1389653"/>
            <a:ext cx="15126072" cy="206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EEAAA0EB-749F-386A-99BC-95631D0C6F75}"/>
              </a:ext>
            </a:extLst>
          </p:cNvPr>
          <p:cNvSpPr txBox="1"/>
          <p:nvPr/>
        </p:nvSpPr>
        <p:spPr>
          <a:xfrm>
            <a:off x="833593" y="2257402"/>
            <a:ext cx="22710464" cy="707886"/>
          </a:xfrm>
          <a:prstGeom prst="rect">
            <a:avLst/>
          </a:prstGeom>
          <a:noFill/>
          <a:ln>
            <a:noFill/>
          </a:ln>
        </p:spPr>
        <p:txBody>
          <a:bodyPr wrap="square" rtlCol="0">
            <a:spAutoFit/>
          </a:bodyPr>
          <a:lstStyle/>
          <a:p>
            <a:pPr rtl="0"/>
            <a:r>
              <a:rPr lang="en-US" sz="4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Total Sellers</a:t>
            </a:r>
          </a:p>
        </p:txBody>
      </p:sp>
      <p:pic>
        <p:nvPicPr>
          <p:cNvPr id="7" name="Picture 6">
            <a:extLst>
              <a:ext uri="{FF2B5EF4-FFF2-40B4-BE49-F238E27FC236}">
                <a16:creationId xmlns:a16="http://schemas.microsoft.com/office/drawing/2014/main" id="{C15EA920-B9D3-8A19-7C14-110009848B52}"/>
              </a:ext>
            </a:extLst>
          </p:cNvPr>
          <p:cNvPicPr>
            <a:picLocks noChangeAspect="1"/>
          </p:cNvPicPr>
          <p:nvPr/>
        </p:nvPicPr>
        <p:blipFill>
          <a:blip r:embed="rId2"/>
          <a:stretch>
            <a:fillRect/>
          </a:stretch>
        </p:blipFill>
        <p:spPr>
          <a:xfrm>
            <a:off x="833593" y="3171315"/>
            <a:ext cx="15484552" cy="6657370"/>
          </a:xfrm>
          <a:prstGeom prst="rect">
            <a:avLst/>
          </a:prstGeom>
        </p:spPr>
      </p:pic>
    </p:spTree>
    <p:extLst>
      <p:ext uri="{BB962C8B-B14F-4D97-AF65-F5344CB8AC3E}">
        <p14:creationId xmlns:p14="http://schemas.microsoft.com/office/powerpoint/2010/main" val="2491317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284EB7-C1FB-6907-B2FB-0BD9F497D5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A97E80-A03B-E189-7B10-81BF67110626}"/>
              </a:ext>
            </a:extLst>
          </p:cNvPr>
          <p:cNvSpPr txBox="1"/>
          <p:nvPr/>
        </p:nvSpPr>
        <p:spPr>
          <a:xfrm>
            <a:off x="833593" y="2515522"/>
            <a:ext cx="22564289" cy="9069149"/>
          </a:xfrm>
          <a:prstGeom prst="rect">
            <a:avLst/>
          </a:prstGeom>
          <a:noFill/>
          <a:ln>
            <a:noFill/>
          </a:ln>
        </p:spPr>
        <p:txBody>
          <a:bodyPr wrap="square" rtlCol="0">
            <a:spAutoFit/>
          </a:bodyPr>
          <a:lstStyle/>
          <a:p>
            <a:pPr algn="just" rtl="0"/>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Market Insights: </a:t>
            </a:r>
          </a:p>
          <a:p>
            <a:pPr algn="just" rtl="0"/>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Sao Paulo stands out with the highest order volume, indicating a robust market presence. This city should be the focal point for targeted marketing and promotional efforts.</a:t>
            </a:r>
          </a:p>
          <a:p>
            <a:pPr algn="just" rtl="0" fontAlgn="base">
              <a:spcBef>
                <a:spcPts val="1000"/>
              </a:spcBef>
            </a:pPr>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rtl="0">
              <a:spcBef>
                <a:spcPts val="1000"/>
              </a:spcBef>
            </a:pPr>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Payment Preferences: </a:t>
            </a:r>
          </a:p>
          <a:p>
            <a:pPr algn="just" rtl="0"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The analysis reveals diverse payment method preferences among customers. </a:t>
            </a:r>
          </a:p>
          <a:p>
            <a:pPr algn="just" rtl="0"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Understanding these preferences is crucial for optimizing the checkout experience and reducing cart abandonment rates.</a:t>
            </a:r>
          </a:p>
          <a:p>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p:txBody>
      </p:sp>
      <p:sp>
        <p:nvSpPr>
          <p:cNvPr id="3" name="TextBox 2">
            <a:extLst>
              <a:ext uri="{FF2B5EF4-FFF2-40B4-BE49-F238E27FC236}">
                <a16:creationId xmlns:a16="http://schemas.microsoft.com/office/drawing/2014/main" id="{15B2DE3E-9B45-E582-BDBA-F89AD3222139}"/>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Conclusions</a:t>
            </a:r>
          </a:p>
        </p:txBody>
      </p:sp>
      <p:sp>
        <p:nvSpPr>
          <p:cNvPr id="4" name="Rectangle 3">
            <a:extLst>
              <a:ext uri="{FF2B5EF4-FFF2-40B4-BE49-F238E27FC236}">
                <a16:creationId xmlns:a16="http://schemas.microsoft.com/office/drawing/2014/main" id="{67582088-2918-4410-B4A3-FA587C3E6CB9}"/>
              </a:ext>
            </a:extLst>
          </p:cNvPr>
          <p:cNvSpPr/>
          <p:nvPr/>
        </p:nvSpPr>
        <p:spPr>
          <a:xfrm rot="10800000" flipV="1">
            <a:off x="7494494" y="1389652"/>
            <a:ext cx="16883154" cy="2060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32879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61D9DD-FB4A-00D5-4FB6-4E11FED13B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ED9DFD-584A-B7D2-4975-B0FE0DCF6EB6}"/>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Conclusions</a:t>
            </a:r>
          </a:p>
        </p:txBody>
      </p:sp>
      <p:sp>
        <p:nvSpPr>
          <p:cNvPr id="4" name="Rectangle 3">
            <a:extLst>
              <a:ext uri="{FF2B5EF4-FFF2-40B4-BE49-F238E27FC236}">
                <a16:creationId xmlns:a16="http://schemas.microsoft.com/office/drawing/2014/main" id="{D4E3C875-94C7-6CB3-2656-9304C73448EB}"/>
              </a:ext>
            </a:extLst>
          </p:cNvPr>
          <p:cNvSpPr/>
          <p:nvPr/>
        </p:nvSpPr>
        <p:spPr>
          <a:xfrm rot="10800000" flipV="1">
            <a:off x="7494494" y="1389652"/>
            <a:ext cx="16883154" cy="2060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789A5A1-3E8F-FD74-579E-F3797D116BB9}"/>
              </a:ext>
            </a:extLst>
          </p:cNvPr>
          <p:cNvSpPr txBox="1"/>
          <p:nvPr/>
        </p:nvSpPr>
        <p:spPr>
          <a:xfrm>
            <a:off x="959099" y="2713090"/>
            <a:ext cx="21990548" cy="10095071"/>
          </a:xfrm>
          <a:prstGeom prst="rect">
            <a:avLst/>
          </a:prstGeom>
          <a:noFill/>
          <a:ln>
            <a:noFill/>
          </a:ln>
        </p:spPr>
        <p:txBody>
          <a:bodyPr wrap="square" rtlCol="0">
            <a:spAutoFit/>
          </a:bodyPr>
          <a:lstStyle/>
          <a:p>
            <a:pPr algn="just" rtl="0">
              <a:spcBef>
                <a:spcPts val="1000"/>
              </a:spcBef>
            </a:pPr>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Logistics Challenges: </a:t>
            </a:r>
          </a:p>
          <a:p>
            <a:pPr algn="just" rtl="0"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Delivery times vary significantly across cities, with some experiencing delays.</a:t>
            </a:r>
          </a:p>
          <a:p>
            <a:pPr algn="just" rtl="0" fontAlgn="base">
              <a:spcBef>
                <a:spcPts val="1000"/>
              </a:spcBef>
            </a:pPr>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rtl="0"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This inconsistency can negatively affect customer satisfaction and loyalty, making it a critical area for improvement.</a:t>
            </a:r>
          </a:p>
          <a:p>
            <a:pPr algn="just" rtl="0" fontAlgn="base">
              <a:spcBef>
                <a:spcPts val="1000"/>
              </a:spcBef>
            </a:pPr>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a:p>
            <a:pPr algn="just" rtl="0">
              <a:spcBef>
                <a:spcPts val="1000"/>
              </a:spcBef>
            </a:pPr>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Customer Feedback: </a:t>
            </a:r>
          </a:p>
          <a:p>
            <a:pPr indent="-685800" algn="just"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Positive review scores indicate a generally satisfied customer base; however, there are opportunities for improvement that could elevate overall customer experience.</a:t>
            </a:r>
          </a:p>
          <a:p>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p:txBody>
      </p:sp>
    </p:spTree>
    <p:extLst>
      <p:ext uri="{BB962C8B-B14F-4D97-AF65-F5344CB8AC3E}">
        <p14:creationId xmlns:p14="http://schemas.microsoft.com/office/powerpoint/2010/main" val="1198811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147E4C-8D49-E9F2-79EF-29370AE021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3E70B9-506B-8EB3-86D3-0E9480ADCCAE}"/>
              </a:ext>
            </a:extLst>
          </p:cNvPr>
          <p:cNvSpPr txBox="1"/>
          <p:nvPr/>
        </p:nvSpPr>
        <p:spPr>
          <a:xfrm>
            <a:off x="691166" y="2102884"/>
            <a:ext cx="23176540" cy="12403395"/>
          </a:xfrm>
          <a:prstGeom prst="rect">
            <a:avLst/>
          </a:prstGeom>
          <a:noFill/>
          <a:ln>
            <a:noFill/>
          </a:ln>
        </p:spPr>
        <p:txBody>
          <a:bodyPr wrap="square" rtlCol="0">
            <a:spAutoFit/>
          </a:bodyPr>
          <a:lstStyle/>
          <a:p>
            <a:pPr algn="just" rtl="0"/>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Targeted Marketing: </a:t>
            </a:r>
          </a:p>
          <a:p>
            <a:pPr indent="-685800" algn="just"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Increase marketing efforts in Sao Paulo to leverage its high order volume. </a:t>
            </a:r>
          </a:p>
          <a:p>
            <a:pPr indent="-685800" algn="just"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Consider localized advertising strategies that resonate with this demographic.</a:t>
            </a:r>
          </a:p>
          <a:p>
            <a:pPr algn="just" rtl="0">
              <a:spcBef>
                <a:spcPts val="1000"/>
              </a:spcBef>
            </a:pPr>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Enhance Payment Options:</a:t>
            </a:r>
          </a:p>
          <a:p>
            <a:pPr indent="-685800" algn="just"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Introduce additional payment methods to cater to customer preferences. This could include digital wallets or installment payment options, which may increase conversion rates.</a:t>
            </a:r>
          </a:p>
          <a:p>
            <a:pPr indent="-685800" algn="just"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To attract more customers through credit card partnerships, offer cashback, reward points, exclusive discounts, and EMI options for credit card users. Run limited-time promotions and provide freebies or perks like free shipping and vouchers. These strategies encourage spending and improve customer retention.</a:t>
            </a:r>
          </a:p>
          <a:p>
            <a:pPr algn="just" rtl="0">
              <a:spcBef>
                <a:spcPts val="1000"/>
              </a:spcBef>
            </a:pPr>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p:txBody>
      </p:sp>
      <p:sp>
        <p:nvSpPr>
          <p:cNvPr id="3" name="TextBox 2">
            <a:extLst>
              <a:ext uri="{FF2B5EF4-FFF2-40B4-BE49-F238E27FC236}">
                <a16:creationId xmlns:a16="http://schemas.microsoft.com/office/drawing/2014/main" id="{55F73A22-1410-01DE-E26D-628B54DC0D8B}"/>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Recommendations</a:t>
            </a:r>
          </a:p>
        </p:txBody>
      </p:sp>
      <p:sp>
        <p:nvSpPr>
          <p:cNvPr id="4" name="Rectangle 3">
            <a:extLst>
              <a:ext uri="{FF2B5EF4-FFF2-40B4-BE49-F238E27FC236}">
                <a16:creationId xmlns:a16="http://schemas.microsoft.com/office/drawing/2014/main" id="{9DB29193-87A8-FAFE-A8F5-A5FB4F9DB59F}"/>
              </a:ext>
            </a:extLst>
          </p:cNvPr>
          <p:cNvSpPr/>
          <p:nvPr/>
        </p:nvSpPr>
        <p:spPr>
          <a:xfrm rot="10800000" flipV="1">
            <a:off x="11259670" y="1389652"/>
            <a:ext cx="13117977" cy="2060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290024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F87640-4E76-2DFB-8760-15183216DB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C07627-B159-1D74-0ADF-1790497BF479}"/>
              </a:ext>
            </a:extLst>
          </p:cNvPr>
          <p:cNvSpPr txBox="1"/>
          <p:nvPr/>
        </p:nvSpPr>
        <p:spPr>
          <a:xfrm>
            <a:off x="833593" y="727936"/>
            <a:ext cx="11355232" cy="1323439"/>
          </a:xfrm>
          <a:prstGeom prst="rect">
            <a:avLst/>
          </a:prstGeom>
          <a:noFill/>
          <a:ln>
            <a:noFill/>
          </a:ln>
        </p:spPr>
        <p:txBody>
          <a:bodyPr wrap="square" rtlCol="0">
            <a:spAutoFit/>
          </a:bodyPr>
          <a:lstStyle/>
          <a:p>
            <a:r>
              <a:rPr lang="en-US" sz="8000" b="1" dirty="0">
                <a:solidFill>
                  <a:schemeClr val="tx2"/>
                </a:solidFill>
                <a:latin typeface="Montserrat SemiBold" pitchFamily="2" charset="77"/>
                <a:ea typeface="Roboto Medium" panose="02000000000000000000" pitchFamily="2" charset="0"/>
                <a:cs typeface="Lato Light" panose="020F0502020204030203" pitchFamily="34" charset="0"/>
              </a:rPr>
              <a:t>Recommendations</a:t>
            </a:r>
          </a:p>
        </p:txBody>
      </p:sp>
      <p:sp>
        <p:nvSpPr>
          <p:cNvPr id="4" name="Rectangle 3">
            <a:extLst>
              <a:ext uri="{FF2B5EF4-FFF2-40B4-BE49-F238E27FC236}">
                <a16:creationId xmlns:a16="http://schemas.microsoft.com/office/drawing/2014/main" id="{02934E0F-431B-E380-73D4-802EB55AD533}"/>
              </a:ext>
            </a:extLst>
          </p:cNvPr>
          <p:cNvSpPr/>
          <p:nvPr/>
        </p:nvSpPr>
        <p:spPr>
          <a:xfrm rot="10800000" flipV="1">
            <a:off x="11259670" y="1389652"/>
            <a:ext cx="13117977" cy="2060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6F635D9-F035-9E27-E77A-3DC5DEC3A5C9}"/>
              </a:ext>
            </a:extLst>
          </p:cNvPr>
          <p:cNvSpPr txBox="1"/>
          <p:nvPr/>
        </p:nvSpPr>
        <p:spPr>
          <a:xfrm>
            <a:off x="833593" y="2298665"/>
            <a:ext cx="22618078" cy="10223311"/>
          </a:xfrm>
          <a:prstGeom prst="rect">
            <a:avLst/>
          </a:prstGeom>
          <a:noFill/>
          <a:ln>
            <a:noFill/>
          </a:ln>
        </p:spPr>
        <p:txBody>
          <a:bodyPr wrap="square" rtlCol="0">
            <a:spAutoFit/>
          </a:bodyPr>
          <a:lstStyle/>
          <a:p>
            <a:pPr algn="just" rtl="0">
              <a:spcBef>
                <a:spcPts val="1000"/>
              </a:spcBef>
            </a:pPr>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Logistics Optimization: </a:t>
            </a:r>
          </a:p>
          <a:p>
            <a:pPr indent="-685800" algn="just"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Invest in logistics solutions to streamline delivery processes, particularly in cities with longer delivery times. </a:t>
            </a:r>
          </a:p>
          <a:p>
            <a:pPr indent="-685800" algn="just"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This could involve partnerships with local delivery services or enhancements in supply chain management.</a:t>
            </a:r>
          </a:p>
          <a:p>
            <a:pPr algn="just" rtl="0" fontAlgn="base">
              <a:spcBef>
                <a:spcPts val="1000"/>
              </a:spcBef>
            </a:pPr>
            <a:endPar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endParaRPr>
          </a:p>
          <a:p>
            <a:pPr algn="just" rtl="0">
              <a:spcBef>
                <a:spcPts val="1000"/>
              </a:spcBef>
            </a:pPr>
            <a:r>
              <a:rPr lang="en-US" sz="5000" b="1" dirty="0">
                <a:solidFill>
                  <a:schemeClr val="accent6">
                    <a:lumMod val="60000"/>
                    <a:lumOff val="40000"/>
                  </a:schemeClr>
                </a:solidFill>
                <a:latin typeface="Montserrat Medium" pitchFamily="2" charset="77"/>
                <a:ea typeface="Roboto Medium" panose="02000000000000000000" pitchFamily="2" charset="0"/>
                <a:cs typeface="Lato Light" panose="020F0502020204030203" pitchFamily="34" charset="0"/>
              </a:rPr>
              <a:t>Customer Engagement: </a:t>
            </a:r>
          </a:p>
          <a:p>
            <a:pPr indent="-685800" algn="just"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Foster a culture of customer feedback by actively soliciting reviews and responding to them.</a:t>
            </a:r>
          </a:p>
          <a:p>
            <a:pPr indent="-685800" algn="just" fontAlgn="base">
              <a:spcBef>
                <a:spcPts val="1000"/>
              </a:spcBef>
              <a:buFont typeface="Arial" panose="020B0604020202020204" pitchFamily="34" charset="0"/>
              <a:buChar char="•"/>
            </a:pPr>
            <a:r>
              <a:rPr lang="en-US" sz="5000" dirty="0">
                <a:solidFill>
                  <a:schemeClr val="tx2"/>
                </a:solidFill>
                <a:latin typeface="Montserrat Medium" pitchFamily="2" charset="77"/>
                <a:ea typeface="Roboto Medium" panose="02000000000000000000" pitchFamily="2" charset="0"/>
                <a:cs typeface="Lato Light" panose="020F0502020204030203" pitchFamily="34" charset="0"/>
              </a:rPr>
              <a:t> Consider implementing loyalty programs that reward customers for their feedback and repeat purchases.</a:t>
            </a:r>
          </a:p>
          <a:p>
            <a:pPr algn="just" rtl="0">
              <a:spcBef>
                <a:spcPts val="1000"/>
              </a:spcBef>
            </a:pPr>
            <a:endParaRPr lang="en-US" sz="5000" dirty="0">
              <a:solidFill>
                <a:schemeClr val="tx2"/>
              </a:solidFill>
              <a:latin typeface="Montserrat Medium" pitchFamily="2" charset="77"/>
              <a:ea typeface="Roboto Medium" panose="02000000000000000000" pitchFamily="2" charset="0"/>
              <a:cs typeface="Lato Light" panose="020F0502020204030203" pitchFamily="34" charset="0"/>
            </a:endParaRPr>
          </a:p>
        </p:txBody>
      </p:sp>
    </p:spTree>
    <p:extLst>
      <p:ext uri="{BB962C8B-B14F-4D97-AF65-F5344CB8AC3E}">
        <p14:creationId xmlns:p14="http://schemas.microsoft.com/office/powerpoint/2010/main" val="1183891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1BD0F38-AB0C-D549-B568-BF22374A7D29}"/>
              </a:ext>
            </a:extLst>
          </p:cNvPr>
          <p:cNvSpPr>
            <a:spLocks noGrp="1"/>
          </p:cNvSpPr>
          <p:nvPr>
            <p:ph type="pic" sz="quarter" idx="14"/>
          </p:nvPr>
        </p:nvSpPr>
        <p:spPr/>
        <p:txBody>
          <a:bodyPr/>
          <a:lstStyle/>
          <a:p>
            <a:endParaRPr lang="en-US"/>
          </a:p>
        </p:txBody>
      </p:sp>
      <p:sp>
        <p:nvSpPr>
          <p:cNvPr id="16" name="Rectangle 15">
            <a:extLst>
              <a:ext uri="{FF2B5EF4-FFF2-40B4-BE49-F238E27FC236}">
                <a16:creationId xmlns:a16="http://schemas.microsoft.com/office/drawing/2014/main" id="{7CF26D66-B8CD-724D-9887-23A4D2EB0FC1}"/>
              </a:ext>
            </a:extLst>
          </p:cNvPr>
          <p:cNvSpPr/>
          <p:nvPr/>
        </p:nvSpPr>
        <p:spPr>
          <a:xfrm rot="10800000" flipV="1">
            <a:off x="-3" y="0"/>
            <a:ext cx="24377649" cy="13715999"/>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8A76F548-DCA5-7E47-9C02-AE5EDD4EB2EB}"/>
              </a:ext>
            </a:extLst>
          </p:cNvPr>
          <p:cNvGrpSpPr/>
          <p:nvPr/>
        </p:nvGrpSpPr>
        <p:grpSpPr>
          <a:xfrm rot="2220732">
            <a:off x="11451141" y="-5221252"/>
            <a:ext cx="21036926" cy="14930142"/>
            <a:chOff x="2500673" y="-2304017"/>
            <a:chExt cx="10763041" cy="7638652"/>
          </a:xfrm>
          <a:solidFill>
            <a:schemeClr val="tx2">
              <a:lumMod val="60000"/>
              <a:lumOff val="40000"/>
            </a:schemeClr>
          </a:solidFill>
        </p:grpSpPr>
        <p:sp>
          <p:nvSpPr>
            <p:cNvPr id="15" name="Freeform: Shape 6">
              <a:extLst>
                <a:ext uri="{FF2B5EF4-FFF2-40B4-BE49-F238E27FC236}">
                  <a16:creationId xmlns:a16="http://schemas.microsoft.com/office/drawing/2014/main" id="{C24A1B13-3642-E045-9483-9E95FE2537B7}"/>
                </a:ext>
              </a:extLst>
            </p:cNvPr>
            <p:cNvSpPr/>
            <p:nvPr/>
          </p:nvSpPr>
          <p:spPr>
            <a:xfrm>
              <a:off x="2500673" y="-1535616"/>
              <a:ext cx="10147034" cy="6502049"/>
            </a:xfrm>
            <a:custGeom>
              <a:avLst/>
              <a:gdLst/>
              <a:ahLst/>
              <a:cxnLst>
                <a:cxn ang="3cd4">
                  <a:pos x="hc" y="t"/>
                </a:cxn>
                <a:cxn ang="cd2">
                  <a:pos x="l" y="vc"/>
                </a:cxn>
                <a:cxn ang="cd4">
                  <a:pos x="hc" y="b"/>
                </a:cxn>
                <a:cxn ang="0">
                  <a:pos x="r" y="vc"/>
                </a:cxn>
              </a:cxnLst>
              <a:rect l="l" t="t" r="r" b="b"/>
              <a:pathLst>
                <a:path w="1482" h="950">
                  <a:moveTo>
                    <a:pt x="1456" y="615"/>
                  </a:moveTo>
                  <a:cubicBezTo>
                    <a:pt x="1490" y="555"/>
                    <a:pt x="1493" y="485"/>
                    <a:pt x="1454" y="426"/>
                  </a:cubicBezTo>
                  <a:cubicBezTo>
                    <a:pt x="1436" y="395"/>
                    <a:pt x="1410" y="371"/>
                    <a:pt x="1384" y="347"/>
                  </a:cubicBezTo>
                  <a:cubicBezTo>
                    <a:pt x="1354" y="321"/>
                    <a:pt x="1323" y="297"/>
                    <a:pt x="1287" y="279"/>
                  </a:cubicBezTo>
                  <a:cubicBezTo>
                    <a:pt x="1224" y="245"/>
                    <a:pt x="1148" y="244"/>
                    <a:pt x="1084" y="211"/>
                  </a:cubicBezTo>
                  <a:cubicBezTo>
                    <a:pt x="1023" y="179"/>
                    <a:pt x="982" y="119"/>
                    <a:pt x="928" y="78"/>
                  </a:cubicBezTo>
                  <a:cubicBezTo>
                    <a:pt x="911" y="66"/>
                    <a:pt x="893" y="56"/>
                    <a:pt x="876" y="47"/>
                  </a:cubicBezTo>
                  <a:cubicBezTo>
                    <a:pt x="871" y="40"/>
                    <a:pt x="864" y="33"/>
                    <a:pt x="855" y="30"/>
                  </a:cubicBezTo>
                  <a:cubicBezTo>
                    <a:pt x="791" y="4"/>
                    <a:pt x="714" y="-18"/>
                    <a:pt x="651" y="20"/>
                  </a:cubicBezTo>
                  <a:cubicBezTo>
                    <a:pt x="613" y="42"/>
                    <a:pt x="596" y="78"/>
                    <a:pt x="581" y="117"/>
                  </a:cubicBezTo>
                  <a:cubicBezTo>
                    <a:pt x="569" y="146"/>
                    <a:pt x="558" y="163"/>
                    <a:pt x="534" y="183"/>
                  </a:cubicBezTo>
                  <a:cubicBezTo>
                    <a:pt x="490" y="214"/>
                    <a:pt x="425" y="220"/>
                    <a:pt x="371" y="215"/>
                  </a:cubicBezTo>
                  <a:cubicBezTo>
                    <a:pt x="304" y="208"/>
                    <a:pt x="238" y="192"/>
                    <a:pt x="172" y="199"/>
                  </a:cubicBezTo>
                  <a:cubicBezTo>
                    <a:pt x="113" y="205"/>
                    <a:pt x="52" y="238"/>
                    <a:pt x="21" y="289"/>
                  </a:cubicBezTo>
                  <a:cubicBezTo>
                    <a:pt x="-14" y="350"/>
                    <a:pt x="-4" y="417"/>
                    <a:pt x="45" y="466"/>
                  </a:cubicBezTo>
                  <a:cubicBezTo>
                    <a:pt x="57" y="478"/>
                    <a:pt x="70" y="489"/>
                    <a:pt x="83" y="500"/>
                  </a:cubicBezTo>
                  <a:cubicBezTo>
                    <a:pt x="95" y="509"/>
                    <a:pt x="107" y="517"/>
                    <a:pt x="115" y="527"/>
                  </a:cubicBezTo>
                  <a:cubicBezTo>
                    <a:pt x="132" y="544"/>
                    <a:pt x="144" y="561"/>
                    <a:pt x="138" y="582"/>
                  </a:cubicBezTo>
                  <a:cubicBezTo>
                    <a:pt x="134" y="598"/>
                    <a:pt x="124" y="613"/>
                    <a:pt x="117" y="626"/>
                  </a:cubicBezTo>
                  <a:cubicBezTo>
                    <a:pt x="110" y="642"/>
                    <a:pt x="106" y="658"/>
                    <a:pt x="104" y="676"/>
                  </a:cubicBezTo>
                  <a:cubicBezTo>
                    <a:pt x="100" y="708"/>
                    <a:pt x="106" y="743"/>
                    <a:pt x="119" y="773"/>
                  </a:cubicBezTo>
                  <a:cubicBezTo>
                    <a:pt x="145" y="830"/>
                    <a:pt x="204" y="864"/>
                    <a:pt x="266" y="862"/>
                  </a:cubicBezTo>
                  <a:cubicBezTo>
                    <a:pt x="320" y="861"/>
                    <a:pt x="369" y="841"/>
                    <a:pt x="421" y="827"/>
                  </a:cubicBezTo>
                  <a:cubicBezTo>
                    <a:pt x="433" y="824"/>
                    <a:pt x="445" y="821"/>
                    <a:pt x="458" y="820"/>
                  </a:cubicBezTo>
                  <a:cubicBezTo>
                    <a:pt x="464" y="818"/>
                    <a:pt x="470" y="818"/>
                    <a:pt x="476" y="817"/>
                  </a:cubicBezTo>
                  <a:lnTo>
                    <a:pt x="477" y="817"/>
                  </a:lnTo>
                  <a:lnTo>
                    <a:pt x="478" y="817"/>
                  </a:lnTo>
                  <a:cubicBezTo>
                    <a:pt x="483" y="817"/>
                    <a:pt x="488" y="817"/>
                    <a:pt x="492" y="817"/>
                  </a:cubicBezTo>
                  <a:cubicBezTo>
                    <a:pt x="523" y="820"/>
                    <a:pt x="554" y="830"/>
                    <a:pt x="581" y="845"/>
                  </a:cubicBezTo>
                  <a:cubicBezTo>
                    <a:pt x="637" y="873"/>
                    <a:pt x="689" y="913"/>
                    <a:pt x="750" y="935"/>
                  </a:cubicBezTo>
                  <a:cubicBezTo>
                    <a:pt x="815" y="957"/>
                    <a:pt x="881" y="956"/>
                    <a:pt x="940" y="918"/>
                  </a:cubicBezTo>
                  <a:cubicBezTo>
                    <a:pt x="968" y="899"/>
                    <a:pt x="991" y="874"/>
                    <a:pt x="1016" y="853"/>
                  </a:cubicBezTo>
                  <a:cubicBezTo>
                    <a:pt x="1040" y="830"/>
                    <a:pt x="1065" y="814"/>
                    <a:pt x="1095" y="801"/>
                  </a:cubicBezTo>
                  <a:cubicBezTo>
                    <a:pt x="1218" y="747"/>
                    <a:pt x="1382" y="747"/>
                    <a:pt x="1456" y="615"/>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7" name="Freeform: Shape 16">
              <a:extLst>
                <a:ext uri="{FF2B5EF4-FFF2-40B4-BE49-F238E27FC236}">
                  <a16:creationId xmlns:a16="http://schemas.microsoft.com/office/drawing/2014/main" id="{C138613B-B1F6-B349-B5FB-5AF5E9348524}"/>
                </a:ext>
              </a:extLst>
            </p:cNvPr>
            <p:cNvSpPr/>
            <p:nvPr/>
          </p:nvSpPr>
          <p:spPr>
            <a:xfrm rot="8579268">
              <a:off x="3299588" y="-2304017"/>
              <a:ext cx="8597325" cy="6641701"/>
            </a:xfrm>
            <a:custGeom>
              <a:avLst/>
              <a:gdLst/>
              <a:ahLst/>
              <a:cxnLst>
                <a:cxn ang="3cd4">
                  <a:pos x="hc" y="t"/>
                </a:cxn>
                <a:cxn ang="cd2">
                  <a:pos x="l" y="vc"/>
                </a:cxn>
                <a:cxn ang="cd4">
                  <a:pos x="hc" y="b"/>
                </a:cxn>
                <a:cxn ang="0">
                  <a:pos x="r" y="vc"/>
                </a:cxn>
              </a:cxnLst>
              <a:rect l="l" t="t" r="r" b="b"/>
              <a:pathLst>
                <a:path w="2076" h="1604">
                  <a:moveTo>
                    <a:pt x="2076" y="913"/>
                  </a:moveTo>
                  <a:cubicBezTo>
                    <a:pt x="2048" y="1248"/>
                    <a:pt x="1730" y="1561"/>
                    <a:pt x="1459" y="1604"/>
                  </a:cubicBezTo>
                  <a:lnTo>
                    <a:pt x="1340" y="1604"/>
                  </a:lnTo>
                  <a:cubicBezTo>
                    <a:pt x="1085" y="1558"/>
                    <a:pt x="1018" y="1202"/>
                    <a:pt x="766" y="1209"/>
                  </a:cubicBezTo>
                  <a:cubicBezTo>
                    <a:pt x="568" y="1214"/>
                    <a:pt x="479" y="1369"/>
                    <a:pt x="360" y="1395"/>
                  </a:cubicBezTo>
                  <a:cubicBezTo>
                    <a:pt x="128" y="1446"/>
                    <a:pt x="19" y="1203"/>
                    <a:pt x="0" y="1017"/>
                  </a:cubicBezTo>
                  <a:lnTo>
                    <a:pt x="0" y="910"/>
                  </a:lnTo>
                  <a:cubicBezTo>
                    <a:pt x="39" y="600"/>
                    <a:pt x="375" y="140"/>
                    <a:pt x="975" y="16"/>
                  </a:cubicBezTo>
                  <a:cubicBezTo>
                    <a:pt x="1027" y="6"/>
                    <a:pt x="1080" y="0"/>
                    <a:pt x="1132" y="0"/>
                  </a:cubicBezTo>
                  <a:cubicBezTo>
                    <a:pt x="1592" y="0"/>
                    <a:pt x="2041" y="400"/>
                    <a:pt x="2076" y="81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8" name="Freeform: Shape 24">
              <a:extLst>
                <a:ext uri="{FF2B5EF4-FFF2-40B4-BE49-F238E27FC236}">
                  <a16:creationId xmlns:a16="http://schemas.microsoft.com/office/drawing/2014/main" id="{71E22886-3545-604F-AA9B-F134DE38038E}"/>
                </a:ext>
              </a:extLst>
            </p:cNvPr>
            <p:cNvSpPr/>
            <p:nvPr/>
          </p:nvSpPr>
          <p:spPr>
            <a:xfrm rot="19895189">
              <a:off x="4807249" y="-1340213"/>
              <a:ext cx="8456465" cy="6674848"/>
            </a:xfrm>
            <a:custGeom>
              <a:avLst/>
              <a:gdLst/>
              <a:ahLst/>
              <a:cxnLst>
                <a:cxn ang="3cd4">
                  <a:pos x="hc" y="t"/>
                </a:cxn>
                <a:cxn ang="cd2">
                  <a:pos x="l" y="vc"/>
                </a:cxn>
                <a:cxn ang="cd4">
                  <a:pos x="hc" y="b"/>
                </a:cxn>
                <a:cxn ang="0">
                  <a:pos x="r" y="vc"/>
                </a:cxn>
              </a:cxnLst>
              <a:rect l="l" t="t" r="r" b="b"/>
              <a:pathLst>
                <a:path w="2042" h="1612">
                  <a:moveTo>
                    <a:pt x="544" y="0"/>
                  </a:moveTo>
                  <a:cubicBezTo>
                    <a:pt x="653" y="28"/>
                    <a:pt x="753" y="89"/>
                    <a:pt x="816" y="161"/>
                  </a:cubicBezTo>
                  <a:cubicBezTo>
                    <a:pt x="918" y="278"/>
                    <a:pt x="1016" y="448"/>
                    <a:pt x="1137" y="540"/>
                  </a:cubicBezTo>
                  <a:cubicBezTo>
                    <a:pt x="1266" y="638"/>
                    <a:pt x="1284" y="537"/>
                    <a:pt x="1590" y="627"/>
                  </a:cubicBezTo>
                  <a:cubicBezTo>
                    <a:pt x="1842" y="703"/>
                    <a:pt x="1915" y="821"/>
                    <a:pt x="1975" y="903"/>
                  </a:cubicBezTo>
                  <a:cubicBezTo>
                    <a:pt x="2017" y="960"/>
                    <a:pt x="2038" y="1026"/>
                    <a:pt x="2042" y="1095"/>
                  </a:cubicBezTo>
                  <a:lnTo>
                    <a:pt x="2042" y="1134"/>
                  </a:lnTo>
                  <a:cubicBezTo>
                    <a:pt x="2038" y="1214"/>
                    <a:pt x="2009" y="1295"/>
                    <a:pt x="1960" y="1363"/>
                  </a:cubicBezTo>
                  <a:cubicBezTo>
                    <a:pt x="1856" y="1508"/>
                    <a:pt x="1732" y="1589"/>
                    <a:pt x="1595" y="1612"/>
                  </a:cubicBezTo>
                  <a:lnTo>
                    <a:pt x="1421" y="1612"/>
                  </a:lnTo>
                  <a:cubicBezTo>
                    <a:pt x="1338" y="1599"/>
                    <a:pt x="1252" y="1567"/>
                    <a:pt x="1164" y="1519"/>
                  </a:cubicBezTo>
                  <a:cubicBezTo>
                    <a:pt x="925" y="1389"/>
                    <a:pt x="944" y="1219"/>
                    <a:pt x="601" y="1044"/>
                  </a:cubicBezTo>
                  <a:cubicBezTo>
                    <a:pt x="415" y="947"/>
                    <a:pt x="346" y="980"/>
                    <a:pt x="216" y="866"/>
                  </a:cubicBezTo>
                  <a:cubicBezTo>
                    <a:pt x="178" y="831"/>
                    <a:pt x="19" y="691"/>
                    <a:pt x="0" y="481"/>
                  </a:cubicBezTo>
                  <a:lnTo>
                    <a:pt x="0" y="399"/>
                  </a:lnTo>
                  <a:cubicBezTo>
                    <a:pt x="3" y="374"/>
                    <a:pt x="26" y="146"/>
                    <a:pt x="215" y="36"/>
                  </a:cubicBezTo>
                  <a:cubicBezTo>
                    <a:pt x="242" y="20"/>
                    <a:pt x="271" y="8"/>
                    <a:pt x="300" y="0"/>
                  </a:cubicBezTo>
                  <a:close/>
                </a:path>
              </a:pathLst>
            </a:custGeom>
            <a:solidFill>
              <a:schemeClr val="accent2">
                <a:lumMod val="20000"/>
                <a:lumOff val="80000"/>
              </a:scheme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9" name="Freeform: Shape 46">
              <a:extLst>
                <a:ext uri="{FF2B5EF4-FFF2-40B4-BE49-F238E27FC236}">
                  <a16:creationId xmlns:a16="http://schemas.microsoft.com/office/drawing/2014/main" id="{2EE07E98-F84F-F641-BC4C-212A7253490C}"/>
                </a:ext>
              </a:extLst>
            </p:cNvPr>
            <p:cNvSpPr/>
            <p:nvPr/>
          </p:nvSpPr>
          <p:spPr>
            <a:xfrm rot="13079268">
              <a:off x="4879786" y="-1271605"/>
              <a:ext cx="8319736" cy="5328277"/>
            </a:xfrm>
            <a:custGeom>
              <a:avLst/>
              <a:gdLst/>
              <a:ahLst/>
              <a:cxnLst>
                <a:cxn ang="3cd4">
                  <a:pos x="hc" y="t"/>
                </a:cxn>
                <a:cxn ang="cd2">
                  <a:pos x="l" y="vc"/>
                </a:cxn>
                <a:cxn ang="cd4">
                  <a:pos x="hc" y="b"/>
                </a:cxn>
                <a:cxn ang="0">
                  <a:pos x="r" y="vc"/>
                </a:cxn>
              </a:cxnLst>
              <a:rect l="l" t="t" r="r" b="b"/>
              <a:pathLst>
                <a:path w="2009" h="1287">
                  <a:moveTo>
                    <a:pt x="2009" y="877"/>
                  </a:moveTo>
                  <a:cubicBezTo>
                    <a:pt x="1989" y="983"/>
                    <a:pt x="1931" y="1076"/>
                    <a:pt x="1831" y="1131"/>
                  </a:cubicBezTo>
                  <a:cubicBezTo>
                    <a:pt x="1726" y="1187"/>
                    <a:pt x="1616" y="1182"/>
                    <a:pt x="1473" y="1176"/>
                  </a:cubicBezTo>
                  <a:cubicBezTo>
                    <a:pt x="1362" y="1171"/>
                    <a:pt x="1228" y="1167"/>
                    <a:pt x="1060" y="1192"/>
                  </a:cubicBezTo>
                  <a:cubicBezTo>
                    <a:pt x="830" y="1226"/>
                    <a:pt x="792" y="1282"/>
                    <a:pt x="676" y="1287"/>
                  </a:cubicBezTo>
                  <a:lnTo>
                    <a:pt x="640" y="1287"/>
                  </a:lnTo>
                  <a:cubicBezTo>
                    <a:pt x="217" y="1273"/>
                    <a:pt x="10" y="974"/>
                    <a:pt x="0" y="653"/>
                  </a:cubicBezTo>
                  <a:lnTo>
                    <a:pt x="0" y="604"/>
                  </a:lnTo>
                  <a:cubicBezTo>
                    <a:pt x="8" y="288"/>
                    <a:pt x="208" y="0"/>
                    <a:pt x="475" y="0"/>
                  </a:cubicBezTo>
                  <a:cubicBezTo>
                    <a:pt x="525" y="0"/>
                    <a:pt x="577" y="10"/>
                    <a:pt x="631" y="32"/>
                  </a:cubicBezTo>
                  <a:cubicBezTo>
                    <a:pt x="782" y="95"/>
                    <a:pt x="813" y="231"/>
                    <a:pt x="1027" y="324"/>
                  </a:cubicBezTo>
                  <a:cubicBezTo>
                    <a:pt x="1137" y="372"/>
                    <a:pt x="1234" y="354"/>
                    <a:pt x="1341" y="335"/>
                  </a:cubicBezTo>
                  <a:cubicBezTo>
                    <a:pt x="1430" y="318"/>
                    <a:pt x="1523" y="304"/>
                    <a:pt x="1633" y="327"/>
                  </a:cubicBezTo>
                  <a:cubicBezTo>
                    <a:pt x="1695" y="341"/>
                    <a:pt x="1877" y="397"/>
                    <a:pt x="1957" y="552"/>
                  </a:cubicBezTo>
                  <a:cubicBezTo>
                    <a:pt x="1982" y="602"/>
                    <a:pt x="2000" y="654"/>
                    <a:pt x="2009" y="707"/>
                  </a:cubicBezTo>
                  <a:close/>
                </a:path>
              </a:pathLst>
            </a:custGeom>
            <a:solidFill>
              <a:schemeClr val="accent2">
                <a:lumMod val="40000"/>
                <a:lumOff val="60000"/>
              </a:scheme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grpSp>
      <p:grpSp>
        <p:nvGrpSpPr>
          <p:cNvPr id="3" name="Group 2">
            <a:extLst>
              <a:ext uri="{FF2B5EF4-FFF2-40B4-BE49-F238E27FC236}">
                <a16:creationId xmlns:a16="http://schemas.microsoft.com/office/drawing/2014/main" id="{BB935987-0FDD-2B49-9CE0-3B2BF332B8AB}"/>
              </a:ext>
            </a:extLst>
          </p:cNvPr>
          <p:cNvGrpSpPr/>
          <p:nvPr/>
        </p:nvGrpSpPr>
        <p:grpSpPr>
          <a:xfrm>
            <a:off x="2206707" y="4580879"/>
            <a:ext cx="13543365" cy="4009026"/>
            <a:chOff x="2354459" y="4611656"/>
            <a:chExt cx="13543365" cy="4009026"/>
          </a:xfrm>
        </p:grpSpPr>
        <p:sp>
          <p:nvSpPr>
            <p:cNvPr id="9" name="TextBox 8"/>
            <p:cNvSpPr txBox="1"/>
            <p:nvPr/>
          </p:nvSpPr>
          <p:spPr>
            <a:xfrm>
              <a:off x="2517893" y="4611656"/>
              <a:ext cx="13379931" cy="1631216"/>
            </a:xfrm>
            <a:prstGeom prst="rect">
              <a:avLst/>
            </a:prstGeom>
            <a:noFill/>
            <a:ln>
              <a:noFill/>
            </a:ln>
          </p:spPr>
          <p:txBody>
            <a:bodyPr wrap="square" rtlCol="0">
              <a:spAutoFit/>
            </a:bodyPr>
            <a:lstStyle/>
            <a:p>
              <a:r>
                <a:rPr lang="en-US" sz="10000" b="1" spc="4000" dirty="0">
                  <a:solidFill>
                    <a:schemeClr val="bg1"/>
                  </a:solidFill>
                  <a:latin typeface="Roboto" panose="02000000000000000000" pitchFamily="2" charset="0"/>
                  <a:ea typeface="Roboto" panose="02000000000000000000" pitchFamily="2" charset="0"/>
                  <a:cs typeface="Lato Light" panose="020F0502020204030203" pitchFamily="34" charset="0"/>
                </a:rPr>
                <a:t>THANK YOU</a:t>
              </a:r>
            </a:p>
          </p:txBody>
        </p:sp>
        <p:sp>
          <p:nvSpPr>
            <p:cNvPr id="13" name="Subtitle 2">
              <a:extLst>
                <a:ext uri="{FF2B5EF4-FFF2-40B4-BE49-F238E27FC236}">
                  <a16:creationId xmlns:a16="http://schemas.microsoft.com/office/drawing/2014/main" id="{D2205147-04E2-2B47-89E5-4B0A34D08FF9}"/>
                </a:ext>
              </a:extLst>
            </p:cNvPr>
            <p:cNvSpPr txBox="1">
              <a:spLocks/>
            </p:cNvSpPr>
            <p:nvPr/>
          </p:nvSpPr>
          <p:spPr>
            <a:xfrm>
              <a:off x="2354459" y="7892778"/>
              <a:ext cx="9210998" cy="727904"/>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299"/>
                </a:lnSpc>
              </a:pPr>
              <a:endParaRPr lang="en-US" sz="2800" dirty="0">
                <a:solidFill>
                  <a:schemeClr val="bg1"/>
                </a:solidFill>
                <a:latin typeface="Roboto Light" panose="02000000000000000000" pitchFamily="2" charset="0"/>
                <a:ea typeface="Roboto Light" panose="02000000000000000000" pitchFamily="2" charset="0"/>
                <a:cs typeface="Lato Light" panose="020F0502020204030203" pitchFamily="34" charset="0"/>
              </a:endParaRPr>
            </a:p>
          </p:txBody>
        </p:sp>
      </p:grpSp>
    </p:spTree>
    <p:extLst>
      <p:ext uri="{BB962C8B-B14F-4D97-AF65-F5344CB8AC3E}">
        <p14:creationId xmlns:p14="http://schemas.microsoft.com/office/powerpoint/2010/main" val="1412830632"/>
      </p:ext>
    </p:extLst>
  </p:cSld>
  <p:clrMapOvr>
    <a:masterClrMapping/>
  </p:clrMapOvr>
</p:sld>
</file>

<file path=ppt/theme/theme1.xml><?xml version="1.0" encoding="utf-8"?>
<a:theme xmlns:a="http://schemas.openxmlformats.org/drawingml/2006/main" name="Office Theme">
  <a:themeElements>
    <a:clrScheme name="Custom 80">
      <a:dk1>
        <a:srgbClr val="999999"/>
      </a:dk1>
      <a:lt1>
        <a:srgbClr val="FFFFFF"/>
      </a:lt1>
      <a:dk2>
        <a:srgbClr val="122D5E"/>
      </a:dk2>
      <a:lt2>
        <a:srgbClr val="FFFFFF"/>
      </a:lt2>
      <a:accent1>
        <a:srgbClr val="769410"/>
      </a:accent1>
      <a:accent2>
        <a:srgbClr val="1B4081"/>
      </a:accent2>
      <a:accent3>
        <a:srgbClr val="769410"/>
      </a:accent3>
      <a:accent4>
        <a:srgbClr val="1B4081"/>
      </a:accent4>
      <a:accent5>
        <a:srgbClr val="769410"/>
      </a:accent5>
      <a:accent6>
        <a:srgbClr val="1B4081"/>
      </a:accent6>
      <a:hlink>
        <a:srgbClr val="9FD368"/>
      </a:hlink>
      <a:folHlink>
        <a:srgbClr val="B26B0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96048</TotalTime>
  <Words>1244</Words>
  <Application>Microsoft Office PowerPoint</Application>
  <PresentationFormat>Custom</PresentationFormat>
  <Paragraphs>175</Paragraphs>
  <Slides>31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Calibri</vt:lpstr>
      <vt:lpstr>Calibri Light</vt:lpstr>
      <vt:lpstr>Century Gothic</vt:lpstr>
      <vt:lpstr>Gill Sans</vt:lpstr>
      <vt:lpstr>Montserrat Light</vt:lpstr>
      <vt:lpstr>Montserrat Medium</vt:lpstr>
      <vt:lpstr>Montserrat SemiBold</vt:lpstr>
      <vt:lpstr>Roboto</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hp</dc:creator>
  <cp:keywords/>
  <dc:description/>
  <cp:lastModifiedBy>hi</cp:lastModifiedBy>
  <cp:revision>16857</cp:revision>
  <dcterms:created xsi:type="dcterms:W3CDTF">2014-11-12T21:47:38Z</dcterms:created>
  <dcterms:modified xsi:type="dcterms:W3CDTF">2026-07-03T07:57:34Z</dcterms:modified>
  <cp:category/>
</cp:coreProperties>
</file>